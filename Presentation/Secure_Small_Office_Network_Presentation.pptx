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91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5A016D-8D2D-4463-BACF-C8B06DD51956}"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CC6FDB-7015-4462-83D4-2297D098DBE5}" type="slidenum">
              <a:rPr lang="en-US" smtClean="0"/>
              <a:t>‹#›</a:t>
            </a:fld>
            <a:endParaRPr lang="en-US"/>
          </a:p>
        </p:txBody>
      </p:sp>
    </p:spTree>
    <p:extLst>
      <p:ext uri="{BB962C8B-B14F-4D97-AF65-F5344CB8AC3E}">
        <p14:creationId xmlns:p14="http://schemas.microsoft.com/office/powerpoint/2010/main" val="4061128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CC6FDB-7015-4462-83D4-2297D098DBE5}" type="slidenum">
              <a:rPr lang="en-US" smtClean="0"/>
              <a:t>1</a:t>
            </a:fld>
            <a:endParaRPr lang="en-US"/>
          </a:p>
        </p:txBody>
      </p:sp>
    </p:spTree>
    <p:extLst>
      <p:ext uri="{BB962C8B-B14F-4D97-AF65-F5344CB8AC3E}">
        <p14:creationId xmlns:p14="http://schemas.microsoft.com/office/powerpoint/2010/main" val="279881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explain the results of our project.</a:t>
            </a:r>
          </a:p>
          <a:p>
            <a:r>
              <a:rPr lang="en-US" dirty="0"/>
              <a:t>In a traditional flat network, all departments share a broad broadcast domain. This provides less logical separation between departments.</a:t>
            </a:r>
          </a:p>
          <a:p>
            <a:r>
              <a:rPr lang="en-US" dirty="0"/>
              <a:t>In our proposed network, we implemented three VLANs: VLAN 10 for HR, VLAN 20 for IT, and VLAN 30 for Sales.</a:t>
            </a:r>
          </a:p>
          <a:p>
            <a:r>
              <a:rPr lang="en-US" dirty="0"/>
              <a:t>We successfully verified DHCP allocation for nine PCs, inter-VLAN routing, and access to our internal DNS and HTTP server.</a:t>
            </a:r>
          </a:p>
          <a:p>
            <a:r>
              <a:rPr lang="en-US" dirty="0"/>
              <a:t>We also configured an ACL that blocks traffic from the Sales subnet to the HR subnet while allowing Sales to access the company server.</a:t>
            </a:r>
          </a:p>
          <a:p>
            <a:r>
              <a:rPr lang="en-US" dirty="0"/>
              <a:t>Therefore, our proposed network provides better segmentation, automated IP addressing, and controlled access compared with the conceptual flat-network baseline.”</a:t>
            </a:r>
          </a:p>
          <a:p>
            <a:endParaRPr lang="en-US" dirty="0"/>
          </a:p>
        </p:txBody>
      </p:sp>
      <p:sp>
        <p:nvSpPr>
          <p:cNvPr id="4" name="Slide Number Placeholder 3"/>
          <p:cNvSpPr>
            <a:spLocks noGrp="1"/>
          </p:cNvSpPr>
          <p:nvPr>
            <p:ph type="sldNum" sz="quarter" idx="5"/>
          </p:nvPr>
        </p:nvSpPr>
        <p:spPr/>
        <p:txBody>
          <a:bodyPr/>
          <a:lstStyle/>
          <a:p>
            <a:fld id="{DBCC6FDB-7015-4462-83D4-2297D098DBE5}" type="slidenum">
              <a:rPr lang="en-US" smtClean="0"/>
              <a:t>8</a:t>
            </a:fld>
            <a:endParaRPr lang="en-US"/>
          </a:p>
        </p:txBody>
      </p:sp>
    </p:spTree>
    <p:extLst>
      <p:ext uri="{BB962C8B-B14F-4D97-AF65-F5344CB8AC3E}">
        <p14:creationId xmlns:p14="http://schemas.microsoft.com/office/powerpoint/2010/main" val="2852024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will discuss our project's analysis, limitations, and security considerations.</a:t>
            </a:r>
          </a:p>
          <a:p>
            <a:r>
              <a:rPr lang="en-US" dirty="0"/>
              <a:t>First, the main features are working as expected. Our VLANs and trunk are active, DHCP has assigned addresses to nine PCs, and DNS and server connectivity have been verified.</a:t>
            </a:r>
          </a:p>
          <a:p>
            <a:r>
              <a:rPr lang="en-US" dirty="0"/>
              <a:t>We also checked the ACL rules and their match counters to verify traffic filtering.</a:t>
            </a:r>
          </a:p>
          <a:p>
            <a:r>
              <a:rPr lang="en-US" dirty="0"/>
              <a:t>However, our current design has some limitations. We use only one router and one switch, so they are single points of failure. The project does not include an Internet connection, and we have not measured network throughput or delay.</a:t>
            </a:r>
          </a:p>
          <a:p>
            <a:r>
              <a:rPr lang="en-US" dirty="0"/>
              <a:t>From a security perspective, port security helps restrict the MAC addresses allowed on access ports. The ACL processes rules in order and is applied in a specific direction.</a:t>
            </a:r>
          </a:p>
          <a:p>
            <a:r>
              <a:rPr lang="en-US" dirty="0"/>
              <a:t>As future improvements, we can implement SSH for encrypted device management, centralized Syslog monitoring, additional Layer 2 security features where supported, and redundant devices and links.”</a:t>
            </a:r>
          </a:p>
          <a:p>
            <a:endParaRPr lang="en-US" dirty="0"/>
          </a:p>
        </p:txBody>
      </p:sp>
      <p:sp>
        <p:nvSpPr>
          <p:cNvPr id="4" name="Slide Number Placeholder 3"/>
          <p:cNvSpPr>
            <a:spLocks noGrp="1"/>
          </p:cNvSpPr>
          <p:nvPr>
            <p:ph type="sldNum" sz="quarter" idx="5"/>
          </p:nvPr>
        </p:nvSpPr>
        <p:spPr/>
        <p:txBody>
          <a:bodyPr/>
          <a:lstStyle/>
          <a:p>
            <a:fld id="{DBCC6FDB-7015-4462-83D4-2297D098DBE5}" type="slidenum">
              <a:rPr lang="en-US" smtClean="0"/>
              <a:t>9</a:t>
            </a:fld>
            <a:endParaRPr lang="en-US"/>
          </a:p>
        </p:txBody>
      </p:sp>
    </p:spTree>
    <p:extLst>
      <p:ext uri="{BB962C8B-B14F-4D97-AF65-F5344CB8AC3E}">
        <p14:creationId xmlns:p14="http://schemas.microsoft.com/office/powerpoint/2010/main" val="1978091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successfully designed and implemented a segmented small office network using Cisco Packet Tracer.</a:t>
            </a:r>
          </a:p>
          <a:p>
            <a:r>
              <a:rPr lang="en-US" dirty="0"/>
              <a:t>We separated HR, IT, and Sales using VLANs, automated IP address allocation through DHCP, and enabled inter-VLAN routing.</a:t>
            </a:r>
          </a:p>
          <a:p>
            <a:r>
              <a:rPr lang="en-US" dirty="0"/>
              <a:t>We also configured an internal DNS and HTTP server and implemented ACL and port-security controls.</a:t>
            </a:r>
          </a:p>
          <a:p>
            <a:r>
              <a:rPr lang="en-US" dirty="0"/>
              <a:t>Our testing verified the main network functions and the intended Sales-to-HR access restriction.</a:t>
            </a:r>
          </a:p>
          <a:p>
            <a:r>
              <a:rPr lang="en-US" dirty="0"/>
              <a:t>In the future, we plan to enhance the network with SSH-based secure administration, centralized logging, additional security protections, configuration backups, and network redundancy.</a:t>
            </a:r>
          </a:p>
          <a:p>
            <a:r>
              <a:rPr lang="en-US" dirty="0"/>
              <a:t>We referred to Cisco Networking Academy resources, Cisco IOS configuration guides, and RFC 1918 for private IPv4 addressing.</a:t>
            </a:r>
          </a:p>
          <a:p>
            <a:r>
              <a:rPr lang="en-US" dirty="0"/>
              <a:t>Thank you. I am ready to answer any questions.”</a:t>
            </a:r>
          </a:p>
          <a:p>
            <a:endParaRPr lang="en-US" dirty="0"/>
          </a:p>
        </p:txBody>
      </p:sp>
      <p:sp>
        <p:nvSpPr>
          <p:cNvPr id="4" name="Slide Number Placeholder 3"/>
          <p:cNvSpPr>
            <a:spLocks noGrp="1"/>
          </p:cNvSpPr>
          <p:nvPr>
            <p:ph type="sldNum" sz="quarter" idx="5"/>
          </p:nvPr>
        </p:nvSpPr>
        <p:spPr/>
        <p:txBody>
          <a:bodyPr/>
          <a:lstStyle/>
          <a:p>
            <a:fld id="{DBCC6FDB-7015-4462-83D4-2297D098DBE5}" type="slidenum">
              <a:rPr lang="en-US" smtClean="0"/>
              <a:t>10</a:t>
            </a:fld>
            <a:endParaRPr lang="en-US"/>
          </a:p>
        </p:txBody>
      </p:sp>
    </p:spTree>
    <p:extLst>
      <p:ext uri="{BB962C8B-B14F-4D97-AF65-F5344CB8AC3E}">
        <p14:creationId xmlns:p14="http://schemas.microsoft.com/office/powerpoint/2010/main" val="1838393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64A"/>
        </a:solidFill>
        <a:effectLst/>
      </p:bgPr>
    </p:bg>
    <p:spTree>
      <p:nvGrpSpPr>
        <p:cNvPr id="1" name=""/>
        <p:cNvGrpSpPr/>
        <p:nvPr/>
      </p:nvGrpSpPr>
      <p:grpSpPr>
        <a:xfrm>
          <a:off x="0" y="0"/>
          <a:ext cx="0" cy="0"/>
          <a:chOff x="0" y="0"/>
          <a:chExt cx="0" cy="0"/>
        </a:xfrm>
      </p:grpSpPr>
      <p:sp>
        <p:nvSpPr>
          <p:cNvPr id="2" name="Rectangle 1"/>
          <p:cNvSpPr/>
          <p:nvPr/>
        </p:nvSpPr>
        <p:spPr>
          <a:xfrm>
            <a:off x="8686800" y="365760"/>
            <a:ext cx="2926080" cy="109728"/>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235440" y="640080"/>
            <a:ext cx="2377440" cy="109728"/>
          </a:xfrm>
          <a:prstGeom prst="rect">
            <a:avLst/>
          </a:prstGeom>
          <a:solidFill>
            <a:srgbClr val="26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0" y="6126480"/>
            <a:ext cx="3200400" cy="109728"/>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143000"/>
            <a:ext cx="10424160" cy="411480"/>
          </a:xfrm>
          <a:prstGeom prst="rect">
            <a:avLst/>
          </a:prstGeom>
          <a:noFill/>
        </p:spPr>
        <p:txBody>
          <a:bodyPr wrap="square" lIns="45720" rIns="45720" anchor="t">
            <a:spAutoFit/>
          </a:bodyPr>
          <a:lstStyle/>
          <a:p>
            <a:pPr algn="l">
              <a:spcAft>
                <a:spcPts val="400"/>
              </a:spcAft>
            </a:pPr>
            <a:r>
              <a:rPr sz="1600" b="1">
                <a:solidFill>
                  <a:srgbClr val="2AAEBE"/>
                </a:solidFill>
                <a:latin typeface="Aptos"/>
              </a:rPr>
              <a:t>COMPUTER NETWORKS PROJECT</a:t>
            </a:r>
          </a:p>
        </p:txBody>
      </p:sp>
      <p:sp>
        <p:nvSpPr>
          <p:cNvPr id="6" name="TextBox 5"/>
          <p:cNvSpPr txBox="1"/>
          <p:nvPr/>
        </p:nvSpPr>
        <p:spPr>
          <a:xfrm>
            <a:off x="777240" y="1828800"/>
            <a:ext cx="10698480" cy="1417320"/>
          </a:xfrm>
          <a:prstGeom prst="rect">
            <a:avLst/>
          </a:prstGeom>
          <a:noFill/>
        </p:spPr>
        <p:txBody>
          <a:bodyPr wrap="square" lIns="45720" rIns="45720" anchor="t">
            <a:spAutoFit/>
          </a:bodyPr>
          <a:lstStyle/>
          <a:p>
            <a:pPr algn="l">
              <a:spcAft>
                <a:spcPts val="400"/>
              </a:spcAft>
            </a:pPr>
            <a:r>
              <a:rPr sz="3100" b="1">
                <a:solidFill>
                  <a:srgbClr val="FFFFFF"/>
                </a:solidFill>
                <a:latin typeface="Aptos"/>
              </a:rPr>
              <a:t>Small Office Network using VLANs,
Inter-VLAN Routing and DHCP</a:t>
            </a:r>
          </a:p>
        </p:txBody>
      </p:sp>
      <p:sp>
        <p:nvSpPr>
          <p:cNvPr id="7" name="TextBox 6"/>
          <p:cNvSpPr txBox="1"/>
          <p:nvPr/>
        </p:nvSpPr>
        <p:spPr>
          <a:xfrm>
            <a:off x="804672" y="3794760"/>
            <a:ext cx="9601200" cy="411480"/>
          </a:xfrm>
          <a:prstGeom prst="rect">
            <a:avLst/>
          </a:prstGeom>
          <a:noFill/>
        </p:spPr>
        <p:txBody>
          <a:bodyPr wrap="square" lIns="45720" rIns="45720" anchor="t">
            <a:spAutoFit/>
          </a:bodyPr>
          <a:lstStyle/>
          <a:p>
            <a:pPr algn="l">
              <a:spcAft>
                <a:spcPts val="400"/>
              </a:spcAft>
            </a:pPr>
            <a:r>
              <a:rPr sz="1700" b="0">
                <a:solidFill>
                  <a:srgbClr val="D3E0F2"/>
                </a:solidFill>
                <a:latin typeface="Aptos"/>
              </a:rPr>
              <a:t>Cisco Packet Tracer | Secure, segmented office network</a:t>
            </a:r>
          </a:p>
        </p:txBody>
      </p:sp>
      <p:sp>
        <p:nvSpPr>
          <p:cNvPr id="8" name="TextBox 7"/>
          <p:cNvSpPr txBox="1"/>
          <p:nvPr/>
        </p:nvSpPr>
        <p:spPr>
          <a:xfrm>
            <a:off x="804672" y="4709160"/>
            <a:ext cx="2286000" cy="320040"/>
          </a:xfrm>
          <a:prstGeom prst="rect">
            <a:avLst/>
          </a:prstGeom>
          <a:noFill/>
        </p:spPr>
        <p:txBody>
          <a:bodyPr wrap="square" lIns="45720" rIns="45720" anchor="t">
            <a:spAutoFit/>
          </a:bodyPr>
          <a:lstStyle/>
          <a:p>
            <a:pPr algn="l">
              <a:spcAft>
                <a:spcPts val="400"/>
              </a:spcAft>
            </a:pPr>
            <a:r>
              <a:rPr sz="1100" b="1">
                <a:solidFill>
                  <a:srgbClr val="2AAEBE"/>
                </a:solidFill>
                <a:latin typeface="Aptos"/>
              </a:rPr>
              <a:t>TEAM MEMBERS</a:t>
            </a:r>
          </a:p>
        </p:txBody>
      </p:sp>
      <p:sp>
        <p:nvSpPr>
          <p:cNvPr id="9" name="TextBox 8"/>
          <p:cNvSpPr txBox="1"/>
          <p:nvPr/>
        </p:nvSpPr>
        <p:spPr>
          <a:xfrm>
            <a:off x="804672" y="5074920"/>
            <a:ext cx="9875520" cy="979755"/>
          </a:xfrm>
          <a:prstGeom prst="rect">
            <a:avLst/>
          </a:prstGeom>
          <a:noFill/>
        </p:spPr>
        <p:txBody>
          <a:bodyPr wrap="square" lIns="45720" rIns="45720" anchor="t">
            <a:spAutoFit/>
          </a:bodyPr>
          <a:lstStyle/>
          <a:p>
            <a:pPr algn="l">
              <a:spcAft>
                <a:spcPts val="400"/>
              </a:spcAft>
            </a:pPr>
            <a:r>
              <a:rPr sz="1700" b="0" dirty="0">
                <a:solidFill>
                  <a:srgbClr val="FFFFFF"/>
                </a:solidFill>
                <a:latin typeface="Aptos"/>
              </a:rPr>
              <a:t>Ravindra Swami  </a:t>
            </a:r>
            <a:endParaRPr lang="en-US" sz="1700" dirty="0">
              <a:solidFill>
                <a:srgbClr val="FFFFFF"/>
              </a:solidFill>
              <a:latin typeface="Aptos"/>
            </a:endParaRPr>
          </a:p>
          <a:p>
            <a:pPr algn="l">
              <a:spcAft>
                <a:spcPts val="400"/>
              </a:spcAft>
            </a:pPr>
            <a:r>
              <a:rPr lang="en-IN" sz="1700" b="0" dirty="0">
                <a:solidFill>
                  <a:srgbClr val="FFFFFF"/>
                </a:solidFill>
                <a:latin typeface="Aptos"/>
              </a:rPr>
              <a:t>Jash Chordiya</a:t>
            </a:r>
          </a:p>
          <a:p>
            <a:pPr algn="l">
              <a:spcAft>
                <a:spcPts val="400"/>
              </a:spcAft>
            </a:pPr>
            <a:r>
              <a:rPr lang="en-IN" sz="1700" dirty="0">
                <a:solidFill>
                  <a:srgbClr val="FFFFFF"/>
                </a:solidFill>
                <a:latin typeface="Aptos"/>
              </a:rPr>
              <a:t>Pratyush Kumar Sahoo</a:t>
            </a:r>
            <a:endParaRPr sz="1700" b="0" dirty="0">
              <a:solidFill>
                <a:srgbClr val="FFFFFF"/>
              </a:solidFill>
              <a:latin typeface="Aptos"/>
            </a:endParaRPr>
          </a:p>
        </p:txBody>
      </p:sp>
      <p:sp>
        <p:nvSpPr>
          <p:cNvPr id="10" name="TextBox 9"/>
          <p:cNvSpPr txBox="1"/>
          <p:nvPr/>
        </p:nvSpPr>
        <p:spPr>
          <a:xfrm>
            <a:off x="804672" y="6172200"/>
            <a:ext cx="7315200" cy="228600"/>
          </a:xfrm>
          <a:prstGeom prst="rect">
            <a:avLst/>
          </a:prstGeom>
          <a:noFill/>
        </p:spPr>
        <p:txBody>
          <a:bodyPr wrap="square" lIns="45720" rIns="45720" anchor="t">
            <a:spAutoFit/>
          </a:bodyPr>
          <a:lstStyle/>
          <a:p>
            <a:pPr algn="l">
              <a:spcAft>
                <a:spcPts val="400"/>
              </a:spcAft>
            </a:pPr>
            <a:r>
              <a:rPr sz="1000" b="0">
                <a:solidFill>
                  <a:srgbClr val="BECDE1"/>
                </a:solidFill>
                <a:latin typeface="Aptos"/>
              </a:rPr>
              <a:t>Departmental segmentation • Automated addressing • Access control</a:t>
            </a:r>
          </a:p>
        </p:txBody>
      </p:sp>
      <p:sp>
        <p:nvSpPr>
          <p:cNvPr id="11" name="TextBox 10"/>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12" name="TextBox 11"/>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Problem Statement &amp; Motivation</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01 • PROBLEM</a:t>
            </a:r>
          </a:p>
        </p:txBody>
      </p:sp>
      <p:sp>
        <p:nvSpPr>
          <p:cNvPr id="5" name="TextBox 4"/>
          <p:cNvSpPr txBox="1"/>
          <p:nvPr/>
        </p:nvSpPr>
        <p:spPr>
          <a:xfrm>
            <a:off x="685800" y="1143000"/>
            <a:ext cx="5029200" cy="457200"/>
          </a:xfrm>
          <a:prstGeom prst="rect">
            <a:avLst/>
          </a:prstGeom>
          <a:noFill/>
        </p:spPr>
        <p:txBody>
          <a:bodyPr wrap="square" lIns="45720" rIns="45720" anchor="t">
            <a:spAutoFit/>
          </a:bodyPr>
          <a:lstStyle/>
          <a:p>
            <a:pPr algn="l">
              <a:spcAft>
                <a:spcPts val="400"/>
              </a:spcAft>
            </a:pPr>
            <a:r>
              <a:rPr sz="2000" b="1">
                <a:solidFill>
                  <a:srgbClr val="265BA6"/>
                </a:solidFill>
                <a:latin typeface="Aptos"/>
              </a:rPr>
              <a:t>The problem</a:t>
            </a:r>
          </a:p>
        </p:txBody>
      </p:sp>
      <p:sp>
        <p:nvSpPr>
          <p:cNvPr id="6" name="TextBox 5"/>
          <p:cNvSpPr txBox="1"/>
          <p:nvPr/>
        </p:nvSpPr>
        <p:spPr>
          <a:xfrm>
            <a:off x="685800" y="1691640"/>
            <a:ext cx="5120640" cy="3840480"/>
          </a:xfrm>
          <a:prstGeom prst="rect">
            <a:avLst/>
          </a:prstGeom>
          <a:noFill/>
        </p:spPr>
        <p:txBody>
          <a:bodyPr wrap="square" lIns="109728" tIns="73152" rIns="73152" bIns="36576">
            <a:spAutoFit/>
          </a:bodyPr>
          <a:lstStyle/>
          <a:p>
            <a:pPr>
              <a:spcAft>
                <a:spcPts val="1400"/>
              </a:spcAft>
              <a:defRPr sz="1600">
                <a:solidFill>
                  <a:srgbClr val="2A3442"/>
                </a:solidFill>
                <a:latin typeface="Aptos"/>
              </a:defRPr>
            </a:pPr>
            <a:r>
              <a:t>• A flat office network puts all departments in one broadcast domain.</a:t>
            </a:r>
          </a:p>
          <a:p>
            <a:pPr>
              <a:spcAft>
                <a:spcPts val="1400"/>
              </a:spcAft>
              <a:defRPr sz="1600">
                <a:solidFill>
                  <a:srgbClr val="2A3442"/>
                </a:solidFill>
                <a:latin typeface="Aptos"/>
              </a:defRPr>
            </a:pPr>
            <a:r>
              <a:t>• Manual IP configuration takes time and can cause addressing errors.</a:t>
            </a:r>
          </a:p>
          <a:p>
            <a:pPr>
              <a:spcAft>
                <a:spcPts val="1400"/>
              </a:spcAft>
              <a:defRPr sz="1600">
                <a:solidFill>
                  <a:srgbClr val="2A3442"/>
                </a:solidFill>
                <a:latin typeface="Aptos"/>
              </a:defRPr>
            </a:pPr>
            <a:r>
              <a:t>• Unrestricted communication can expose confidential departmental devices.</a:t>
            </a:r>
          </a:p>
          <a:p>
            <a:pPr>
              <a:spcAft>
                <a:spcPts val="1400"/>
              </a:spcAft>
              <a:defRPr sz="1600">
                <a:solidFill>
                  <a:srgbClr val="2A3442"/>
                </a:solidFill>
                <a:latin typeface="Aptos"/>
              </a:defRPr>
            </a:pPr>
            <a:r>
              <a:t>• Troubleshooting becomes harder as the office network grows.</a:t>
            </a:r>
          </a:p>
        </p:txBody>
      </p:sp>
      <p:sp>
        <p:nvSpPr>
          <p:cNvPr id="7" name="TextBox 6"/>
          <p:cNvSpPr txBox="1"/>
          <p:nvPr/>
        </p:nvSpPr>
        <p:spPr>
          <a:xfrm>
            <a:off x="6217920" y="1143000"/>
            <a:ext cx="4937760" cy="457200"/>
          </a:xfrm>
          <a:prstGeom prst="rect">
            <a:avLst/>
          </a:prstGeom>
          <a:noFill/>
        </p:spPr>
        <p:txBody>
          <a:bodyPr wrap="square" lIns="45720" rIns="45720" anchor="t">
            <a:spAutoFit/>
          </a:bodyPr>
          <a:lstStyle/>
          <a:p>
            <a:pPr algn="l">
              <a:spcAft>
                <a:spcPts val="400"/>
              </a:spcAft>
            </a:pPr>
            <a:r>
              <a:rPr sz="2000" b="1">
                <a:solidFill>
                  <a:srgbClr val="265BA6"/>
                </a:solidFill>
                <a:latin typeface="Aptos"/>
              </a:rPr>
              <a:t>Why it matters</a:t>
            </a:r>
          </a:p>
        </p:txBody>
      </p:sp>
      <p:sp>
        <p:nvSpPr>
          <p:cNvPr id="8" name="Rounded Rectangle 7"/>
          <p:cNvSpPr/>
          <p:nvPr/>
        </p:nvSpPr>
        <p:spPr>
          <a:xfrm>
            <a:off x="6217920" y="1691640"/>
            <a:ext cx="5120640" cy="114300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2512" y="1801368"/>
            <a:ext cx="4791455" cy="329184"/>
          </a:xfrm>
          <a:prstGeom prst="rect">
            <a:avLst/>
          </a:prstGeom>
          <a:noFill/>
        </p:spPr>
        <p:txBody>
          <a:bodyPr wrap="square" lIns="45720" rIns="45720" anchor="t">
            <a:spAutoFit/>
          </a:bodyPr>
          <a:lstStyle/>
          <a:p>
            <a:pPr algn="l">
              <a:spcAft>
                <a:spcPts val="400"/>
              </a:spcAft>
            </a:pPr>
            <a:r>
              <a:rPr sz="1600" b="1">
                <a:solidFill>
                  <a:srgbClr val="2AAEBE"/>
                </a:solidFill>
                <a:latin typeface="Aptos"/>
              </a:rPr>
              <a:t>SEGMENTATION</a:t>
            </a:r>
          </a:p>
        </p:txBody>
      </p:sp>
      <p:sp>
        <p:nvSpPr>
          <p:cNvPr id="10" name="TextBox 9"/>
          <p:cNvSpPr txBox="1"/>
          <p:nvPr/>
        </p:nvSpPr>
        <p:spPr>
          <a:xfrm>
            <a:off x="6382512" y="2194560"/>
            <a:ext cx="4791455" cy="521207"/>
          </a:xfrm>
          <a:prstGeom prst="rect">
            <a:avLst/>
          </a:prstGeom>
          <a:noFill/>
        </p:spPr>
        <p:txBody>
          <a:bodyPr wrap="square" lIns="45720" rIns="45720" anchor="t">
            <a:spAutoFit/>
          </a:bodyPr>
          <a:lstStyle/>
          <a:p>
            <a:pPr algn="l">
              <a:spcAft>
                <a:spcPts val="400"/>
              </a:spcAft>
            </a:pPr>
            <a:r>
              <a:rPr sz="1300" b="0">
                <a:solidFill>
                  <a:srgbClr val="2A3442"/>
                </a:solidFill>
                <a:latin typeface="Aptos"/>
              </a:rPr>
              <a:t>Separate HR, IT and Sales into logical VLANs.</a:t>
            </a:r>
          </a:p>
        </p:txBody>
      </p:sp>
      <p:sp>
        <p:nvSpPr>
          <p:cNvPr id="11" name="Rounded Rectangle 10"/>
          <p:cNvSpPr/>
          <p:nvPr/>
        </p:nvSpPr>
        <p:spPr>
          <a:xfrm>
            <a:off x="6217920" y="3063240"/>
            <a:ext cx="5120640" cy="114300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3172968"/>
            <a:ext cx="4791455" cy="329184"/>
          </a:xfrm>
          <a:prstGeom prst="rect">
            <a:avLst/>
          </a:prstGeom>
          <a:noFill/>
        </p:spPr>
        <p:txBody>
          <a:bodyPr wrap="square" lIns="45720" rIns="45720" anchor="t">
            <a:spAutoFit/>
          </a:bodyPr>
          <a:lstStyle/>
          <a:p>
            <a:pPr algn="l">
              <a:spcAft>
                <a:spcPts val="400"/>
              </a:spcAft>
            </a:pPr>
            <a:r>
              <a:rPr sz="1600" b="1">
                <a:solidFill>
                  <a:srgbClr val="265BA6"/>
                </a:solidFill>
                <a:latin typeface="Aptos"/>
              </a:rPr>
              <a:t>AUTOMATION</a:t>
            </a:r>
          </a:p>
        </p:txBody>
      </p:sp>
      <p:sp>
        <p:nvSpPr>
          <p:cNvPr id="13" name="TextBox 12"/>
          <p:cNvSpPr txBox="1"/>
          <p:nvPr/>
        </p:nvSpPr>
        <p:spPr>
          <a:xfrm>
            <a:off x="6382512" y="3566160"/>
            <a:ext cx="4791455" cy="521207"/>
          </a:xfrm>
          <a:prstGeom prst="rect">
            <a:avLst/>
          </a:prstGeom>
          <a:noFill/>
        </p:spPr>
        <p:txBody>
          <a:bodyPr wrap="square" lIns="45720" rIns="45720" anchor="t">
            <a:spAutoFit/>
          </a:bodyPr>
          <a:lstStyle/>
          <a:p>
            <a:pPr algn="l">
              <a:spcAft>
                <a:spcPts val="400"/>
              </a:spcAft>
            </a:pPr>
            <a:r>
              <a:rPr sz="1300" b="0">
                <a:solidFill>
                  <a:srgbClr val="2A3442"/>
                </a:solidFill>
                <a:latin typeface="Aptos"/>
              </a:rPr>
              <a:t>Use DHCP to assign client addresses automatically.</a:t>
            </a:r>
          </a:p>
        </p:txBody>
      </p:sp>
      <p:sp>
        <p:nvSpPr>
          <p:cNvPr id="14" name="Rounded Rectangle 13"/>
          <p:cNvSpPr/>
          <p:nvPr/>
        </p:nvSpPr>
        <p:spPr>
          <a:xfrm>
            <a:off x="6217920" y="4434840"/>
            <a:ext cx="5120640" cy="114300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82512" y="4544568"/>
            <a:ext cx="4791455" cy="329184"/>
          </a:xfrm>
          <a:prstGeom prst="rect">
            <a:avLst/>
          </a:prstGeom>
          <a:noFill/>
        </p:spPr>
        <p:txBody>
          <a:bodyPr wrap="square" lIns="45720" rIns="45720" anchor="t">
            <a:spAutoFit/>
          </a:bodyPr>
          <a:lstStyle/>
          <a:p>
            <a:pPr algn="l">
              <a:spcAft>
                <a:spcPts val="400"/>
              </a:spcAft>
            </a:pPr>
            <a:r>
              <a:rPr sz="1600" b="1">
                <a:solidFill>
                  <a:srgbClr val="268C64"/>
                </a:solidFill>
                <a:latin typeface="Aptos"/>
              </a:rPr>
              <a:t>CONTROLLED ACCESS</a:t>
            </a:r>
          </a:p>
        </p:txBody>
      </p:sp>
      <p:sp>
        <p:nvSpPr>
          <p:cNvPr id="16" name="TextBox 15"/>
          <p:cNvSpPr txBox="1"/>
          <p:nvPr/>
        </p:nvSpPr>
        <p:spPr>
          <a:xfrm>
            <a:off x="6382512" y="4937759"/>
            <a:ext cx="4791455" cy="521207"/>
          </a:xfrm>
          <a:prstGeom prst="rect">
            <a:avLst/>
          </a:prstGeom>
          <a:noFill/>
        </p:spPr>
        <p:txBody>
          <a:bodyPr wrap="square" lIns="45720" rIns="45720" anchor="t">
            <a:spAutoFit/>
          </a:bodyPr>
          <a:lstStyle/>
          <a:p>
            <a:pPr algn="l">
              <a:spcAft>
                <a:spcPts val="400"/>
              </a:spcAft>
            </a:pPr>
            <a:r>
              <a:rPr sz="1300" b="0">
                <a:solidFill>
                  <a:srgbClr val="2A3442"/>
                </a:solidFill>
                <a:latin typeface="Aptos"/>
              </a:rPr>
              <a:t>Use an ACL to restrict Sales access to HR devices.</a:t>
            </a:r>
          </a:p>
        </p:txBody>
      </p:sp>
      <p:sp>
        <p:nvSpPr>
          <p:cNvPr id="17" name="TextBox 16"/>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18" name="TextBox 17"/>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Existing Approach (Baseline) &amp; Its Gaps</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02 • BASELINE</a:t>
            </a:r>
          </a:p>
        </p:txBody>
      </p:sp>
      <p:sp>
        <p:nvSpPr>
          <p:cNvPr id="5" name="Rounded Rectangle 4"/>
          <p:cNvSpPr/>
          <p:nvPr/>
        </p:nvSpPr>
        <p:spPr>
          <a:xfrm>
            <a:off x="640080" y="1234440"/>
            <a:ext cx="3474720" cy="356616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1344168"/>
            <a:ext cx="3145536" cy="329184"/>
          </a:xfrm>
          <a:prstGeom prst="rect">
            <a:avLst/>
          </a:prstGeom>
          <a:noFill/>
        </p:spPr>
        <p:txBody>
          <a:bodyPr wrap="square" lIns="45720" rIns="45720" anchor="t">
            <a:spAutoFit/>
          </a:bodyPr>
          <a:lstStyle/>
          <a:p>
            <a:pPr algn="l">
              <a:spcAft>
                <a:spcPts val="400"/>
              </a:spcAft>
            </a:pPr>
            <a:r>
              <a:rPr sz="1700" b="1">
                <a:solidFill>
                  <a:srgbClr val="265BA6"/>
                </a:solidFill>
                <a:latin typeface="Aptos"/>
              </a:rPr>
              <a:t>FLAT NETWORK BASELINE</a:t>
            </a:r>
          </a:p>
        </p:txBody>
      </p:sp>
      <p:sp>
        <p:nvSpPr>
          <p:cNvPr id="7" name="TextBox 6"/>
          <p:cNvSpPr txBox="1"/>
          <p:nvPr/>
        </p:nvSpPr>
        <p:spPr>
          <a:xfrm>
            <a:off x="804671" y="1737360"/>
            <a:ext cx="3145536" cy="2944368"/>
          </a:xfrm>
          <a:prstGeom prst="rect">
            <a:avLst/>
          </a:prstGeom>
          <a:noFill/>
        </p:spPr>
        <p:txBody>
          <a:bodyPr wrap="square" lIns="45720" rIns="45720" anchor="t">
            <a:spAutoFit/>
          </a:bodyPr>
          <a:lstStyle/>
          <a:p>
            <a:pPr algn="l">
              <a:spcAft>
                <a:spcPts val="400"/>
              </a:spcAft>
            </a:pPr>
            <a:r>
              <a:rPr sz="1500" b="0">
                <a:solidFill>
                  <a:srgbClr val="2A3442"/>
                </a:solidFill>
                <a:latin typeface="Aptos"/>
              </a:rPr>
              <a:t>• One shared network
• Broad broadcast domain
• Manual IP setup possible
• Little separation between departments</a:t>
            </a:r>
          </a:p>
        </p:txBody>
      </p:sp>
      <p:sp>
        <p:nvSpPr>
          <p:cNvPr id="8" name="Rounded Rectangle 7"/>
          <p:cNvSpPr/>
          <p:nvPr/>
        </p:nvSpPr>
        <p:spPr>
          <a:xfrm>
            <a:off x="4370832" y="1234440"/>
            <a:ext cx="3474720" cy="356616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344168"/>
            <a:ext cx="3145536" cy="329184"/>
          </a:xfrm>
          <a:prstGeom prst="rect">
            <a:avLst/>
          </a:prstGeom>
          <a:noFill/>
        </p:spPr>
        <p:txBody>
          <a:bodyPr wrap="square" lIns="45720" rIns="45720" anchor="t">
            <a:spAutoFit/>
          </a:bodyPr>
          <a:lstStyle/>
          <a:p>
            <a:pPr algn="l">
              <a:spcAft>
                <a:spcPts val="400"/>
              </a:spcAft>
            </a:pPr>
            <a:r>
              <a:rPr sz="1700" b="1">
                <a:solidFill>
                  <a:srgbClr val="BC4646"/>
                </a:solidFill>
                <a:latin typeface="Aptos"/>
              </a:rPr>
              <a:t>GAPS</a:t>
            </a:r>
          </a:p>
        </p:txBody>
      </p:sp>
      <p:sp>
        <p:nvSpPr>
          <p:cNvPr id="10" name="TextBox 9"/>
          <p:cNvSpPr txBox="1"/>
          <p:nvPr/>
        </p:nvSpPr>
        <p:spPr>
          <a:xfrm>
            <a:off x="4535424" y="1737360"/>
            <a:ext cx="3145536" cy="2944368"/>
          </a:xfrm>
          <a:prstGeom prst="rect">
            <a:avLst/>
          </a:prstGeom>
          <a:noFill/>
        </p:spPr>
        <p:txBody>
          <a:bodyPr wrap="square" lIns="45720" rIns="45720" anchor="t">
            <a:spAutoFit/>
          </a:bodyPr>
          <a:lstStyle/>
          <a:p>
            <a:pPr algn="l">
              <a:spcAft>
                <a:spcPts val="400"/>
              </a:spcAft>
            </a:pPr>
            <a:r>
              <a:rPr sz="1500" b="0">
                <a:solidFill>
                  <a:srgbClr val="2A3442"/>
                </a:solidFill>
                <a:latin typeface="Aptos"/>
              </a:rPr>
              <a:t>• Unnecessary inter-department visibility
• Addressing errors from manual setup
• No central name-based access
• Security policies harder to enforce</a:t>
            </a:r>
          </a:p>
        </p:txBody>
      </p:sp>
      <p:sp>
        <p:nvSpPr>
          <p:cNvPr id="11" name="Rounded Rectangle 10"/>
          <p:cNvSpPr/>
          <p:nvPr/>
        </p:nvSpPr>
        <p:spPr>
          <a:xfrm>
            <a:off x="8101583" y="1234440"/>
            <a:ext cx="3474720" cy="356616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66175" y="1344168"/>
            <a:ext cx="3145536" cy="329184"/>
          </a:xfrm>
          <a:prstGeom prst="rect">
            <a:avLst/>
          </a:prstGeom>
          <a:noFill/>
        </p:spPr>
        <p:txBody>
          <a:bodyPr wrap="square" lIns="45720" rIns="45720" anchor="t">
            <a:spAutoFit/>
          </a:bodyPr>
          <a:lstStyle/>
          <a:p>
            <a:pPr algn="l">
              <a:spcAft>
                <a:spcPts val="400"/>
              </a:spcAft>
            </a:pPr>
            <a:r>
              <a:rPr sz="1700" b="1">
                <a:solidFill>
                  <a:srgbClr val="268C64"/>
                </a:solidFill>
                <a:latin typeface="Aptos"/>
              </a:rPr>
              <a:t>PROPOSED APPROACH</a:t>
            </a:r>
          </a:p>
        </p:txBody>
      </p:sp>
      <p:sp>
        <p:nvSpPr>
          <p:cNvPr id="13" name="TextBox 12"/>
          <p:cNvSpPr txBox="1"/>
          <p:nvPr/>
        </p:nvSpPr>
        <p:spPr>
          <a:xfrm>
            <a:off x="8266175" y="1737360"/>
            <a:ext cx="3145536" cy="2944368"/>
          </a:xfrm>
          <a:prstGeom prst="rect">
            <a:avLst/>
          </a:prstGeom>
          <a:noFill/>
        </p:spPr>
        <p:txBody>
          <a:bodyPr wrap="square" lIns="45720" rIns="45720" anchor="t">
            <a:spAutoFit/>
          </a:bodyPr>
          <a:lstStyle/>
          <a:p>
            <a:pPr algn="l">
              <a:spcAft>
                <a:spcPts val="400"/>
              </a:spcAft>
            </a:pPr>
            <a:r>
              <a:rPr sz="1500" b="0">
                <a:solidFill>
                  <a:srgbClr val="2A3442"/>
                </a:solidFill>
                <a:latin typeface="Aptos"/>
              </a:rPr>
              <a:t>• VLAN 10: HR
• VLAN 20: IT
• VLAN 30: Sales
• Router-on-a-Stick + DHCP + ACL</a:t>
            </a:r>
          </a:p>
        </p:txBody>
      </p:sp>
      <p:sp>
        <p:nvSpPr>
          <p:cNvPr id="14" name="TextBox 13"/>
          <p:cNvSpPr txBox="1"/>
          <p:nvPr/>
        </p:nvSpPr>
        <p:spPr>
          <a:xfrm>
            <a:off x="822960" y="5257800"/>
            <a:ext cx="10698480" cy="594360"/>
          </a:xfrm>
          <a:prstGeom prst="rect">
            <a:avLst/>
          </a:prstGeom>
          <a:noFill/>
        </p:spPr>
        <p:txBody>
          <a:bodyPr wrap="square" lIns="45720" rIns="45720" anchor="t">
            <a:spAutoFit/>
          </a:bodyPr>
          <a:lstStyle/>
          <a:p>
            <a:pPr algn="l">
              <a:spcAft>
                <a:spcPts val="400"/>
              </a:spcAft>
            </a:pPr>
            <a:r>
              <a:rPr sz="1300" b="0">
                <a:solidFill>
                  <a:srgbClr val="647080"/>
                </a:solidFill>
                <a:latin typeface="Aptos"/>
              </a:rPr>
              <a:t>Baseline is a conceptual comparison unless a separate flat-network simulation was built and measured.</a:t>
            </a:r>
          </a:p>
        </p:txBody>
      </p:sp>
      <p:sp>
        <p:nvSpPr>
          <p:cNvPr id="15" name="TextBox 14"/>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16" name="TextBox 15"/>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Proposed Solution &amp; Novelty</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03 • PROPOSED</a:t>
            </a:r>
          </a:p>
        </p:txBody>
      </p:sp>
      <p:sp>
        <p:nvSpPr>
          <p:cNvPr id="5" name="TextBox 4"/>
          <p:cNvSpPr txBox="1"/>
          <p:nvPr/>
        </p:nvSpPr>
        <p:spPr>
          <a:xfrm>
            <a:off x="731520" y="1143000"/>
            <a:ext cx="10698480" cy="457200"/>
          </a:xfrm>
          <a:prstGeom prst="rect">
            <a:avLst/>
          </a:prstGeom>
          <a:noFill/>
        </p:spPr>
        <p:txBody>
          <a:bodyPr wrap="square" lIns="45720" rIns="45720" anchor="t">
            <a:spAutoFit/>
          </a:bodyPr>
          <a:lstStyle/>
          <a:p>
            <a:pPr algn="l">
              <a:spcAft>
                <a:spcPts val="400"/>
              </a:spcAft>
            </a:pPr>
            <a:r>
              <a:rPr sz="2100" b="1">
                <a:solidFill>
                  <a:srgbClr val="265BA6"/>
                </a:solidFill>
                <a:latin typeface="Aptos"/>
              </a:rPr>
              <a:t>What this project brings together</a:t>
            </a:r>
          </a:p>
        </p:txBody>
      </p:sp>
      <p:sp>
        <p:nvSpPr>
          <p:cNvPr id="6" name="Oval 5"/>
          <p:cNvSpPr/>
          <p:nvPr/>
        </p:nvSpPr>
        <p:spPr>
          <a:xfrm>
            <a:off x="804672" y="1801368"/>
            <a:ext cx="384048" cy="384048"/>
          </a:xfrm>
          <a:prstGeom prst="ellipse">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53312" y="1783080"/>
            <a:ext cx="2926080" cy="365760"/>
          </a:xfrm>
          <a:prstGeom prst="rect">
            <a:avLst/>
          </a:prstGeom>
          <a:noFill/>
        </p:spPr>
        <p:txBody>
          <a:bodyPr wrap="square" lIns="45720" rIns="45720" anchor="t">
            <a:spAutoFit/>
          </a:bodyPr>
          <a:lstStyle/>
          <a:p>
            <a:pPr algn="l">
              <a:spcAft>
                <a:spcPts val="400"/>
              </a:spcAft>
            </a:pPr>
            <a:r>
              <a:rPr sz="1600" b="1">
                <a:solidFill>
                  <a:srgbClr val="14264A"/>
                </a:solidFill>
                <a:latin typeface="Aptos"/>
              </a:rPr>
              <a:t>VLAN segmentation</a:t>
            </a:r>
          </a:p>
        </p:txBody>
      </p:sp>
      <p:sp>
        <p:nvSpPr>
          <p:cNvPr id="8" name="TextBox 7"/>
          <p:cNvSpPr txBox="1"/>
          <p:nvPr/>
        </p:nvSpPr>
        <p:spPr>
          <a:xfrm>
            <a:off x="4160520" y="1783080"/>
            <a:ext cx="7040880" cy="502920"/>
          </a:xfrm>
          <a:prstGeom prst="rect">
            <a:avLst/>
          </a:prstGeom>
          <a:noFill/>
        </p:spPr>
        <p:txBody>
          <a:bodyPr wrap="square" lIns="45720" rIns="45720" anchor="t">
            <a:spAutoFit/>
          </a:bodyPr>
          <a:lstStyle/>
          <a:p>
            <a:pPr algn="l">
              <a:spcAft>
                <a:spcPts val="400"/>
              </a:spcAft>
            </a:pPr>
            <a:r>
              <a:rPr sz="1400" b="0">
                <a:solidFill>
                  <a:srgbClr val="2A3442"/>
                </a:solidFill>
                <a:latin typeface="Aptos"/>
              </a:rPr>
              <a:t>Separate HR, IT and Sales broadcast domains.</a:t>
            </a:r>
          </a:p>
        </p:txBody>
      </p:sp>
      <p:sp>
        <p:nvSpPr>
          <p:cNvPr id="9" name="Oval 8"/>
          <p:cNvSpPr/>
          <p:nvPr/>
        </p:nvSpPr>
        <p:spPr>
          <a:xfrm>
            <a:off x="804672" y="2633472"/>
            <a:ext cx="384048" cy="384048"/>
          </a:xfrm>
          <a:prstGeom prst="ellipse">
            <a:avLst/>
          </a:prstGeom>
          <a:solidFill>
            <a:srgbClr val="26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53312" y="2615184"/>
            <a:ext cx="2926080" cy="365760"/>
          </a:xfrm>
          <a:prstGeom prst="rect">
            <a:avLst/>
          </a:prstGeom>
          <a:noFill/>
        </p:spPr>
        <p:txBody>
          <a:bodyPr wrap="square" lIns="45720" rIns="45720" anchor="t">
            <a:spAutoFit/>
          </a:bodyPr>
          <a:lstStyle/>
          <a:p>
            <a:pPr algn="l">
              <a:spcAft>
                <a:spcPts val="400"/>
              </a:spcAft>
            </a:pPr>
            <a:r>
              <a:rPr sz="1600" b="1">
                <a:solidFill>
                  <a:srgbClr val="14264A"/>
                </a:solidFill>
                <a:latin typeface="Aptos"/>
              </a:rPr>
              <a:t>Router-on-a-Stick</a:t>
            </a:r>
          </a:p>
        </p:txBody>
      </p:sp>
      <p:sp>
        <p:nvSpPr>
          <p:cNvPr id="11" name="TextBox 10"/>
          <p:cNvSpPr txBox="1"/>
          <p:nvPr/>
        </p:nvSpPr>
        <p:spPr>
          <a:xfrm>
            <a:off x="4160520" y="2615184"/>
            <a:ext cx="7040880" cy="502920"/>
          </a:xfrm>
          <a:prstGeom prst="rect">
            <a:avLst/>
          </a:prstGeom>
          <a:noFill/>
        </p:spPr>
        <p:txBody>
          <a:bodyPr wrap="square" lIns="45720" rIns="45720" anchor="t">
            <a:spAutoFit/>
          </a:bodyPr>
          <a:lstStyle/>
          <a:p>
            <a:pPr algn="l">
              <a:spcAft>
                <a:spcPts val="400"/>
              </a:spcAft>
            </a:pPr>
            <a:r>
              <a:rPr sz="1400" b="0">
                <a:solidFill>
                  <a:srgbClr val="2A3442"/>
                </a:solidFill>
                <a:latin typeface="Aptos"/>
              </a:rPr>
              <a:t>Route between VLANs using one router physical interface and 802.1Q trunk.</a:t>
            </a:r>
          </a:p>
        </p:txBody>
      </p:sp>
      <p:sp>
        <p:nvSpPr>
          <p:cNvPr id="12" name="Oval 11"/>
          <p:cNvSpPr/>
          <p:nvPr/>
        </p:nvSpPr>
        <p:spPr>
          <a:xfrm>
            <a:off x="804672" y="3465576"/>
            <a:ext cx="384048" cy="384048"/>
          </a:xfrm>
          <a:prstGeom prst="ellipse">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3312" y="3447288"/>
            <a:ext cx="2926080" cy="365760"/>
          </a:xfrm>
          <a:prstGeom prst="rect">
            <a:avLst/>
          </a:prstGeom>
          <a:noFill/>
        </p:spPr>
        <p:txBody>
          <a:bodyPr wrap="square" lIns="45720" rIns="45720" anchor="t">
            <a:spAutoFit/>
          </a:bodyPr>
          <a:lstStyle/>
          <a:p>
            <a:pPr algn="l">
              <a:spcAft>
                <a:spcPts val="400"/>
              </a:spcAft>
            </a:pPr>
            <a:r>
              <a:rPr sz="1600" b="1">
                <a:solidFill>
                  <a:srgbClr val="14264A"/>
                </a:solidFill>
                <a:latin typeface="Aptos"/>
              </a:rPr>
              <a:t>DHCP automation</a:t>
            </a:r>
          </a:p>
        </p:txBody>
      </p:sp>
      <p:sp>
        <p:nvSpPr>
          <p:cNvPr id="14" name="TextBox 13"/>
          <p:cNvSpPr txBox="1"/>
          <p:nvPr/>
        </p:nvSpPr>
        <p:spPr>
          <a:xfrm>
            <a:off x="4160520" y="3447288"/>
            <a:ext cx="7040880" cy="502920"/>
          </a:xfrm>
          <a:prstGeom prst="rect">
            <a:avLst/>
          </a:prstGeom>
          <a:noFill/>
        </p:spPr>
        <p:txBody>
          <a:bodyPr wrap="square" lIns="45720" rIns="45720" anchor="t">
            <a:spAutoFit/>
          </a:bodyPr>
          <a:lstStyle/>
          <a:p>
            <a:pPr algn="l">
              <a:spcAft>
                <a:spcPts val="400"/>
              </a:spcAft>
            </a:pPr>
            <a:r>
              <a:rPr sz="1400" b="0">
                <a:solidFill>
                  <a:srgbClr val="2A3442"/>
                </a:solidFill>
                <a:latin typeface="Aptos"/>
              </a:rPr>
              <a:t>Assign IP settings dynamically to client PCs.</a:t>
            </a:r>
          </a:p>
        </p:txBody>
      </p:sp>
      <p:sp>
        <p:nvSpPr>
          <p:cNvPr id="15" name="Oval 14"/>
          <p:cNvSpPr/>
          <p:nvPr/>
        </p:nvSpPr>
        <p:spPr>
          <a:xfrm>
            <a:off x="804672" y="4297679"/>
            <a:ext cx="384048" cy="384048"/>
          </a:xfrm>
          <a:prstGeom prst="ellipse">
            <a:avLst/>
          </a:prstGeom>
          <a:solidFill>
            <a:srgbClr val="265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53312" y="4279392"/>
            <a:ext cx="2926080" cy="365760"/>
          </a:xfrm>
          <a:prstGeom prst="rect">
            <a:avLst/>
          </a:prstGeom>
          <a:noFill/>
        </p:spPr>
        <p:txBody>
          <a:bodyPr wrap="square" lIns="45720" rIns="45720" anchor="t">
            <a:spAutoFit/>
          </a:bodyPr>
          <a:lstStyle/>
          <a:p>
            <a:pPr algn="l">
              <a:spcAft>
                <a:spcPts val="400"/>
              </a:spcAft>
            </a:pPr>
            <a:r>
              <a:rPr sz="1600" b="1">
                <a:solidFill>
                  <a:srgbClr val="14264A"/>
                </a:solidFill>
                <a:latin typeface="Aptos"/>
              </a:rPr>
              <a:t>Server services</a:t>
            </a:r>
          </a:p>
        </p:txBody>
      </p:sp>
      <p:sp>
        <p:nvSpPr>
          <p:cNvPr id="17" name="TextBox 16"/>
          <p:cNvSpPr txBox="1"/>
          <p:nvPr/>
        </p:nvSpPr>
        <p:spPr>
          <a:xfrm>
            <a:off x="4160520" y="4279392"/>
            <a:ext cx="7040880" cy="502920"/>
          </a:xfrm>
          <a:prstGeom prst="rect">
            <a:avLst/>
          </a:prstGeom>
          <a:noFill/>
        </p:spPr>
        <p:txBody>
          <a:bodyPr wrap="square" lIns="45720" rIns="45720" anchor="t">
            <a:spAutoFit/>
          </a:bodyPr>
          <a:lstStyle/>
          <a:p>
            <a:pPr algn="l">
              <a:spcAft>
                <a:spcPts val="400"/>
              </a:spcAft>
            </a:pPr>
            <a:r>
              <a:rPr sz="1400" b="0">
                <a:solidFill>
                  <a:srgbClr val="2A3442"/>
                </a:solidFill>
                <a:latin typeface="Aptos"/>
              </a:rPr>
              <a:t>Provide internal DNS name resolution and HTTP company portal.</a:t>
            </a:r>
          </a:p>
        </p:txBody>
      </p:sp>
      <p:sp>
        <p:nvSpPr>
          <p:cNvPr id="18" name="Oval 17"/>
          <p:cNvSpPr/>
          <p:nvPr/>
        </p:nvSpPr>
        <p:spPr>
          <a:xfrm>
            <a:off x="804672" y="5129783"/>
            <a:ext cx="384048" cy="384048"/>
          </a:xfrm>
          <a:prstGeom prst="ellipse">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53312" y="5111496"/>
            <a:ext cx="2926080" cy="365760"/>
          </a:xfrm>
          <a:prstGeom prst="rect">
            <a:avLst/>
          </a:prstGeom>
          <a:noFill/>
        </p:spPr>
        <p:txBody>
          <a:bodyPr wrap="square" lIns="45720" rIns="45720" anchor="t">
            <a:spAutoFit/>
          </a:bodyPr>
          <a:lstStyle/>
          <a:p>
            <a:pPr algn="l">
              <a:spcAft>
                <a:spcPts val="400"/>
              </a:spcAft>
            </a:pPr>
            <a:r>
              <a:rPr sz="1600" b="1">
                <a:solidFill>
                  <a:srgbClr val="14264A"/>
                </a:solidFill>
                <a:latin typeface="Aptos"/>
              </a:rPr>
              <a:t>Layer 2 + Layer 3 security</a:t>
            </a:r>
          </a:p>
        </p:txBody>
      </p:sp>
      <p:sp>
        <p:nvSpPr>
          <p:cNvPr id="20" name="TextBox 19"/>
          <p:cNvSpPr txBox="1"/>
          <p:nvPr/>
        </p:nvSpPr>
        <p:spPr>
          <a:xfrm>
            <a:off x="4160520" y="5111496"/>
            <a:ext cx="7040880" cy="502920"/>
          </a:xfrm>
          <a:prstGeom prst="rect">
            <a:avLst/>
          </a:prstGeom>
          <a:noFill/>
        </p:spPr>
        <p:txBody>
          <a:bodyPr wrap="square" lIns="45720" rIns="45720" anchor="t">
            <a:spAutoFit/>
          </a:bodyPr>
          <a:lstStyle/>
          <a:p>
            <a:pPr algn="l">
              <a:spcAft>
                <a:spcPts val="400"/>
              </a:spcAft>
            </a:pPr>
            <a:r>
              <a:rPr sz="1400" b="0">
                <a:solidFill>
                  <a:srgbClr val="2A3442"/>
                </a:solidFill>
                <a:latin typeface="Aptos"/>
              </a:rPr>
              <a:t>Sticky MAC port security and extended ACL rules.</a:t>
            </a:r>
          </a:p>
        </p:txBody>
      </p:sp>
      <p:sp>
        <p:nvSpPr>
          <p:cNvPr id="21" name="TextBox 20"/>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22" name="TextBox 21"/>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Network Architecture</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04 • ARCHITECTURE</a:t>
            </a:r>
          </a:p>
        </p:txBody>
      </p:sp>
      <p:sp>
        <p:nvSpPr>
          <p:cNvPr id="5" name="Rounded Rectangle 4"/>
          <p:cNvSpPr/>
          <p:nvPr/>
        </p:nvSpPr>
        <p:spPr>
          <a:xfrm>
            <a:off x="4709160" y="1143000"/>
            <a:ext cx="2743200" cy="777240"/>
          </a:xfrm>
          <a:prstGeom prst="roundRect">
            <a:avLst/>
          </a:prstGeom>
          <a:solidFill>
            <a:srgbClr val="E5F0FD"/>
          </a:solidFill>
          <a:ln>
            <a:solidFill>
              <a:srgbClr val="265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782312" y="1234440"/>
            <a:ext cx="2596896" cy="256032"/>
          </a:xfrm>
          <a:prstGeom prst="rect">
            <a:avLst/>
          </a:prstGeom>
          <a:noFill/>
        </p:spPr>
        <p:txBody>
          <a:bodyPr wrap="square" lIns="45720" rIns="45720" anchor="t">
            <a:spAutoFit/>
          </a:bodyPr>
          <a:lstStyle/>
          <a:p>
            <a:pPr algn="ctr">
              <a:spcAft>
                <a:spcPts val="400"/>
              </a:spcAft>
            </a:pPr>
            <a:r>
              <a:rPr sz="1500" b="1">
                <a:solidFill>
                  <a:srgbClr val="14264A"/>
                </a:solidFill>
                <a:latin typeface="Aptos"/>
              </a:rPr>
              <a:t>R1 • Cisco 2911</a:t>
            </a:r>
          </a:p>
        </p:txBody>
      </p:sp>
      <p:sp>
        <p:nvSpPr>
          <p:cNvPr id="7" name="TextBox 6"/>
          <p:cNvSpPr txBox="1"/>
          <p:nvPr/>
        </p:nvSpPr>
        <p:spPr>
          <a:xfrm>
            <a:off x="4782312" y="1527048"/>
            <a:ext cx="2596896" cy="347472"/>
          </a:xfrm>
          <a:prstGeom prst="rect">
            <a:avLst/>
          </a:prstGeom>
          <a:noFill/>
        </p:spPr>
        <p:txBody>
          <a:bodyPr wrap="square" lIns="45720" rIns="45720" anchor="t">
            <a:spAutoFit/>
          </a:bodyPr>
          <a:lstStyle/>
          <a:p>
            <a:pPr algn="ctr">
              <a:spcAft>
                <a:spcPts val="400"/>
              </a:spcAft>
            </a:pPr>
            <a:r>
              <a:rPr sz="1000" b="0">
                <a:solidFill>
                  <a:srgbClr val="2A3442"/>
                </a:solidFill>
                <a:latin typeface="Aptos"/>
              </a:rPr>
              <a:t>Gateways • DHCP • ACL</a:t>
            </a:r>
          </a:p>
        </p:txBody>
      </p:sp>
      <p:sp>
        <p:nvSpPr>
          <p:cNvPr id="8" name="Rounded Rectangle 7"/>
          <p:cNvSpPr/>
          <p:nvPr/>
        </p:nvSpPr>
        <p:spPr>
          <a:xfrm>
            <a:off x="4709160" y="2606040"/>
            <a:ext cx="2743200" cy="777240"/>
          </a:xfrm>
          <a:prstGeom prst="roundRect">
            <a:avLst/>
          </a:prstGeom>
          <a:solidFill>
            <a:srgbClr val="E7F7F7"/>
          </a:solidFill>
          <a:ln>
            <a:solidFill>
              <a:srgbClr val="2AA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82312" y="2697480"/>
            <a:ext cx="2596896" cy="256032"/>
          </a:xfrm>
          <a:prstGeom prst="rect">
            <a:avLst/>
          </a:prstGeom>
          <a:noFill/>
        </p:spPr>
        <p:txBody>
          <a:bodyPr wrap="square" lIns="45720" rIns="45720" anchor="t">
            <a:spAutoFit/>
          </a:bodyPr>
          <a:lstStyle/>
          <a:p>
            <a:pPr algn="ctr">
              <a:spcAft>
                <a:spcPts val="400"/>
              </a:spcAft>
            </a:pPr>
            <a:r>
              <a:rPr sz="1500" b="1">
                <a:solidFill>
                  <a:srgbClr val="14264A"/>
                </a:solidFill>
                <a:latin typeface="Aptos"/>
              </a:rPr>
              <a:t>SW1 • Catalyst 2960</a:t>
            </a:r>
          </a:p>
        </p:txBody>
      </p:sp>
      <p:sp>
        <p:nvSpPr>
          <p:cNvPr id="10" name="TextBox 9"/>
          <p:cNvSpPr txBox="1"/>
          <p:nvPr/>
        </p:nvSpPr>
        <p:spPr>
          <a:xfrm>
            <a:off x="4782312" y="2990088"/>
            <a:ext cx="2596896" cy="347472"/>
          </a:xfrm>
          <a:prstGeom prst="rect">
            <a:avLst/>
          </a:prstGeom>
          <a:noFill/>
        </p:spPr>
        <p:txBody>
          <a:bodyPr wrap="square" lIns="45720" rIns="45720" anchor="t">
            <a:spAutoFit/>
          </a:bodyPr>
          <a:lstStyle/>
          <a:p>
            <a:pPr algn="ctr">
              <a:spcAft>
                <a:spcPts val="400"/>
              </a:spcAft>
            </a:pPr>
            <a:r>
              <a:rPr sz="1000" b="0">
                <a:solidFill>
                  <a:srgbClr val="2A3442"/>
                </a:solidFill>
                <a:latin typeface="Aptos"/>
              </a:rPr>
              <a:t>VLANs • Trunk • Port Security</a:t>
            </a:r>
          </a:p>
        </p:txBody>
      </p:sp>
      <p:cxnSp>
        <p:nvCxnSpPr>
          <p:cNvPr id="11" name="Connector 10"/>
          <p:cNvCxnSpPr/>
          <p:nvPr/>
        </p:nvCxnSpPr>
        <p:spPr>
          <a:xfrm>
            <a:off x="6080760" y="1920240"/>
            <a:ext cx="0" cy="685800"/>
          </a:xfrm>
          <a:prstGeom prst="line">
            <a:avLst/>
          </a:prstGeom>
          <a:ln w="31750">
            <a:solidFill>
              <a:srgbClr val="2AAEB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63640" y="2148840"/>
            <a:ext cx="2103120" cy="228600"/>
          </a:xfrm>
          <a:prstGeom prst="rect">
            <a:avLst/>
          </a:prstGeom>
          <a:noFill/>
        </p:spPr>
        <p:txBody>
          <a:bodyPr wrap="square" lIns="45720" rIns="45720" anchor="t">
            <a:spAutoFit/>
          </a:bodyPr>
          <a:lstStyle/>
          <a:p>
            <a:pPr algn="l">
              <a:spcAft>
                <a:spcPts val="400"/>
              </a:spcAft>
            </a:pPr>
            <a:r>
              <a:rPr sz="1000" b="1">
                <a:solidFill>
                  <a:srgbClr val="647080"/>
                </a:solidFill>
                <a:latin typeface="Aptos"/>
              </a:rPr>
              <a:t>802.1Q trunk</a:t>
            </a:r>
          </a:p>
        </p:txBody>
      </p:sp>
      <p:sp>
        <p:nvSpPr>
          <p:cNvPr id="13" name="Rounded Rectangle 12"/>
          <p:cNvSpPr/>
          <p:nvPr/>
        </p:nvSpPr>
        <p:spPr>
          <a:xfrm>
            <a:off x="640080" y="4160520"/>
            <a:ext cx="3017520" cy="914400"/>
          </a:xfrm>
          <a:prstGeom prst="roundRect">
            <a:avLst/>
          </a:prstGeom>
          <a:solidFill>
            <a:srgbClr val="EEF5FC"/>
          </a:solidFill>
          <a:ln>
            <a:solidFill>
              <a:srgbClr val="265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1" y="4251959"/>
            <a:ext cx="2871215" cy="256032"/>
          </a:xfrm>
          <a:prstGeom prst="rect">
            <a:avLst/>
          </a:prstGeom>
          <a:noFill/>
        </p:spPr>
        <p:txBody>
          <a:bodyPr wrap="square" lIns="45720" rIns="45720" anchor="t">
            <a:spAutoFit/>
          </a:bodyPr>
          <a:lstStyle/>
          <a:p>
            <a:pPr algn="ctr">
              <a:spcAft>
                <a:spcPts val="400"/>
              </a:spcAft>
            </a:pPr>
            <a:r>
              <a:rPr sz="1500" b="1">
                <a:solidFill>
                  <a:srgbClr val="14264A"/>
                </a:solidFill>
                <a:latin typeface="Aptos"/>
              </a:rPr>
              <a:t>HR • VLAN 10</a:t>
            </a:r>
          </a:p>
        </p:txBody>
      </p:sp>
      <p:sp>
        <p:nvSpPr>
          <p:cNvPr id="15" name="TextBox 14"/>
          <p:cNvSpPr txBox="1"/>
          <p:nvPr/>
        </p:nvSpPr>
        <p:spPr>
          <a:xfrm>
            <a:off x="713231" y="4544568"/>
            <a:ext cx="2871215" cy="484632"/>
          </a:xfrm>
          <a:prstGeom prst="rect">
            <a:avLst/>
          </a:prstGeom>
          <a:noFill/>
        </p:spPr>
        <p:txBody>
          <a:bodyPr wrap="square" lIns="45720" rIns="45720" anchor="t">
            <a:spAutoFit/>
          </a:bodyPr>
          <a:lstStyle/>
          <a:p>
            <a:pPr algn="ctr">
              <a:spcAft>
                <a:spcPts val="400"/>
              </a:spcAft>
            </a:pPr>
            <a:r>
              <a:rPr sz="1000" b="0">
                <a:solidFill>
                  <a:srgbClr val="2A3442"/>
                </a:solidFill>
                <a:latin typeface="Aptos"/>
              </a:rPr>
              <a:t>3 PCs • 192.168.10.0/24</a:t>
            </a:r>
          </a:p>
        </p:txBody>
      </p:sp>
      <p:sp>
        <p:nvSpPr>
          <p:cNvPr id="16" name="Rounded Rectangle 15"/>
          <p:cNvSpPr/>
          <p:nvPr/>
        </p:nvSpPr>
        <p:spPr>
          <a:xfrm>
            <a:off x="4572000" y="4160520"/>
            <a:ext cx="3017520" cy="914400"/>
          </a:xfrm>
          <a:prstGeom prst="roundRect">
            <a:avLst/>
          </a:prstGeom>
          <a:solidFill>
            <a:srgbClr val="EEF5FC"/>
          </a:solidFill>
          <a:ln>
            <a:solidFill>
              <a:srgbClr val="2AA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45152" y="4251959"/>
            <a:ext cx="2871215" cy="256032"/>
          </a:xfrm>
          <a:prstGeom prst="rect">
            <a:avLst/>
          </a:prstGeom>
          <a:noFill/>
        </p:spPr>
        <p:txBody>
          <a:bodyPr wrap="square" lIns="45720" rIns="45720" anchor="t">
            <a:spAutoFit/>
          </a:bodyPr>
          <a:lstStyle/>
          <a:p>
            <a:pPr algn="ctr">
              <a:spcAft>
                <a:spcPts val="400"/>
              </a:spcAft>
            </a:pPr>
            <a:r>
              <a:rPr sz="1500" b="1">
                <a:solidFill>
                  <a:srgbClr val="14264A"/>
                </a:solidFill>
                <a:latin typeface="Aptos"/>
              </a:rPr>
              <a:t>IT • VLAN 20</a:t>
            </a:r>
          </a:p>
        </p:txBody>
      </p:sp>
      <p:sp>
        <p:nvSpPr>
          <p:cNvPr id="18" name="TextBox 17"/>
          <p:cNvSpPr txBox="1"/>
          <p:nvPr/>
        </p:nvSpPr>
        <p:spPr>
          <a:xfrm>
            <a:off x="4645152" y="4544568"/>
            <a:ext cx="2871215" cy="484632"/>
          </a:xfrm>
          <a:prstGeom prst="rect">
            <a:avLst/>
          </a:prstGeom>
          <a:noFill/>
        </p:spPr>
        <p:txBody>
          <a:bodyPr wrap="square" lIns="45720" rIns="45720" anchor="t">
            <a:spAutoFit/>
          </a:bodyPr>
          <a:lstStyle/>
          <a:p>
            <a:pPr algn="ctr">
              <a:spcAft>
                <a:spcPts val="400"/>
              </a:spcAft>
            </a:pPr>
            <a:r>
              <a:rPr sz="1000" b="0">
                <a:solidFill>
                  <a:srgbClr val="2A3442"/>
                </a:solidFill>
                <a:latin typeface="Aptos"/>
              </a:rPr>
              <a:t>3 PCs • 192.168.20.0/24</a:t>
            </a:r>
          </a:p>
        </p:txBody>
      </p:sp>
      <p:sp>
        <p:nvSpPr>
          <p:cNvPr id="19" name="Rounded Rectangle 18"/>
          <p:cNvSpPr/>
          <p:nvPr/>
        </p:nvSpPr>
        <p:spPr>
          <a:xfrm>
            <a:off x="8503920" y="4160520"/>
            <a:ext cx="3017520" cy="914400"/>
          </a:xfrm>
          <a:prstGeom prst="roundRect">
            <a:avLst/>
          </a:prstGeom>
          <a:solidFill>
            <a:srgbClr val="EEF5FC"/>
          </a:solidFill>
          <a:ln>
            <a:solidFill>
              <a:srgbClr val="268C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77072" y="4251959"/>
            <a:ext cx="2871215" cy="256032"/>
          </a:xfrm>
          <a:prstGeom prst="rect">
            <a:avLst/>
          </a:prstGeom>
          <a:noFill/>
        </p:spPr>
        <p:txBody>
          <a:bodyPr wrap="square" lIns="45720" rIns="45720" anchor="t">
            <a:spAutoFit/>
          </a:bodyPr>
          <a:lstStyle/>
          <a:p>
            <a:pPr algn="ctr">
              <a:spcAft>
                <a:spcPts val="400"/>
              </a:spcAft>
            </a:pPr>
            <a:r>
              <a:rPr sz="1500" b="1">
                <a:solidFill>
                  <a:srgbClr val="14264A"/>
                </a:solidFill>
                <a:latin typeface="Aptos"/>
              </a:rPr>
              <a:t>SALES • VLAN 30</a:t>
            </a:r>
          </a:p>
        </p:txBody>
      </p:sp>
      <p:sp>
        <p:nvSpPr>
          <p:cNvPr id="21" name="TextBox 20"/>
          <p:cNvSpPr txBox="1"/>
          <p:nvPr/>
        </p:nvSpPr>
        <p:spPr>
          <a:xfrm>
            <a:off x="8577072" y="4544568"/>
            <a:ext cx="2871215" cy="484632"/>
          </a:xfrm>
          <a:prstGeom prst="rect">
            <a:avLst/>
          </a:prstGeom>
          <a:noFill/>
        </p:spPr>
        <p:txBody>
          <a:bodyPr wrap="square" lIns="45720" rIns="45720" anchor="t">
            <a:spAutoFit/>
          </a:bodyPr>
          <a:lstStyle/>
          <a:p>
            <a:pPr algn="ctr">
              <a:spcAft>
                <a:spcPts val="400"/>
              </a:spcAft>
            </a:pPr>
            <a:r>
              <a:rPr sz="1000" b="0">
                <a:solidFill>
                  <a:srgbClr val="2A3442"/>
                </a:solidFill>
                <a:latin typeface="Aptos"/>
              </a:rPr>
              <a:t>3 PCs • 192.168.30.0/24</a:t>
            </a:r>
          </a:p>
        </p:txBody>
      </p:sp>
      <p:cxnSp>
        <p:nvCxnSpPr>
          <p:cNvPr id="22" name="Connector 21"/>
          <p:cNvCxnSpPr/>
          <p:nvPr/>
        </p:nvCxnSpPr>
        <p:spPr>
          <a:xfrm flipH="1">
            <a:off x="2148840" y="3383280"/>
            <a:ext cx="3931920" cy="777240"/>
          </a:xfrm>
          <a:prstGeom prst="line">
            <a:avLst/>
          </a:prstGeom>
          <a:ln w="17780">
            <a:solidFill>
              <a:srgbClr val="91A0B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80760" y="3383280"/>
            <a:ext cx="0" cy="777240"/>
          </a:xfrm>
          <a:prstGeom prst="line">
            <a:avLst/>
          </a:prstGeom>
          <a:ln w="17780">
            <a:solidFill>
              <a:srgbClr val="91A0B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80760" y="3383280"/>
            <a:ext cx="3931920" cy="777240"/>
          </a:xfrm>
          <a:prstGeom prst="line">
            <a:avLst/>
          </a:prstGeom>
          <a:ln w="17780">
            <a:solidFill>
              <a:srgbClr val="91A0B4"/>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503920" y="5394960"/>
            <a:ext cx="3017520" cy="640080"/>
          </a:xfrm>
          <a:prstGeom prst="roundRect">
            <a:avLst/>
          </a:prstGeom>
          <a:solidFill>
            <a:srgbClr val="FFF7E0"/>
          </a:solidFill>
          <a:ln>
            <a:solidFill>
              <a:srgbClr val="E0A7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77072" y="5486400"/>
            <a:ext cx="2871215" cy="256032"/>
          </a:xfrm>
          <a:prstGeom prst="rect">
            <a:avLst/>
          </a:prstGeom>
          <a:noFill/>
        </p:spPr>
        <p:txBody>
          <a:bodyPr wrap="square" lIns="45720" rIns="45720" anchor="t">
            <a:spAutoFit/>
          </a:bodyPr>
          <a:lstStyle/>
          <a:p>
            <a:pPr algn="ctr">
              <a:spcAft>
                <a:spcPts val="400"/>
              </a:spcAft>
            </a:pPr>
            <a:r>
              <a:rPr sz="1500" b="1">
                <a:solidFill>
                  <a:srgbClr val="14264A"/>
                </a:solidFill>
                <a:latin typeface="Aptos"/>
              </a:rPr>
              <a:t>Company Server</a:t>
            </a:r>
          </a:p>
        </p:txBody>
      </p:sp>
      <p:sp>
        <p:nvSpPr>
          <p:cNvPr id="27" name="TextBox 26"/>
          <p:cNvSpPr txBox="1"/>
          <p:nvPr/>
        </p:nvSpPr>
        <p:spPr>
          <a:xfrm>
            <a:off x="8577072" y="5779008"/>
            <a:ext cx="2871215" cy="210311"/>
          </a:xfrm>
          <a:prstGeom prst="rect">
            <a:avLst/>
          </a:prstGeom>
          <a:noFill/>
        </p:spPr>
        <p:txBody>
          <a:bodyPr wrap="square" lIns="45720" rIns="45720" anchor="t">
            <a:spAutoFit/>
          </a:bodyPr>
          <a:lstStyle/>
          <a:p>
            <a:pPr algn="ctr">
              <a:spcAft>
                <a:spcPts val="400"/>
              </a:spcAft>
            </a:pPr>
            <a:r>
              <a:rPr sz="1000" b="0">
                <a:solidFill>
                  <a:srgbClr val="2A3442"/>
                </a:solidFill>
                <a:latin typeface="Aptos"/>
              </a:rPr>
              <a:t>192.168.10.10 • DNS + HTTP</a:t>
            </a:r>
          </a:p>
        </p:txBody>
      </p:sp>
      <p:cxnSp>
        <p:nvCxnSpPr>
          <p:cNvPr id="28" name="Connector 27"/>
          <p:cNvCxnSpPr/>
          <p:nvPr/>
        </p:nvCxnSpPr>
        <p:spPr>
          <a:xfrm>
            <a:off x="10012680" y="5074920"/>
            <a:ext cx="0" cy="320040"/>
          </a:xfrm>
          <a:prstGeom prst="line">
            <a:avLst/>
          </a:prstGeom>
          <a:ln w="20320">
            <a:solidFill>
              <a:srgbClr val="E0A73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31520" y="5623560"/>
            <a:ext cx="7223760" cy="411480"/>
          </a:xfrm>
          <a:prstGeom prst="rect">
            <a:avLst/>
          </a:prstGeom>
          <a:noFill/>
        </p:spPr>
        <p:txBody>
          <a:bodyPr wrap="square" lIns="45720" rIns="45720" anchor="t">
            <a:spAutoFit/>
          </a:bodyPr>
          <a:lstStyle/>
          <a:p>
            <a:pPr algn="l">
              <a:spcAft>
                <a:spcPts val="400"/>
              </a:spcAft>
            </a:pPr>
            <a:r>
              <a:rPr sz="1100" b="0">
                <a:solidFill>
                  <a:srgbClr val="647080"/>
                </a:solidFill>
                <a:latin typeface="Aptos"/>
              </a:rPr>
              <a:t>Note: Server is connected to SW1 access port Fa0/10 in VLAN 10.</a:t>
            </a:r>
          </a:p>
        </p:txBody>
      </p:sp>
      <p:sp>
        <p:nvSpPr>
          <p:cNvPr id="30" name="TextBox 29"/>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31" name="TextBox 30"/>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Implementation Setup</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05 • SETUP</a:t>
            </a:r>
          </a:p>
        </p:txBody>
      </p:sp>
      <p:sp>
        <p:nvSpPr>
          <p:cNvPr id="5" name="Rounded Rectangle 4"/>
          <p:cNvSpPr/>
          <p:nvPr/>
        </p:nvSpPr>
        <p:spPr>
          <a:xfrm>
            <a:off x="640080" y="1234440"/>
            <a:ext cx="3474720" cy="361188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1344168"/>
            <a:ext cx="3145536" cy="329184"/>
          </a:xfrm>
          <a:prstGeom prst="rect">
            <a:avLst/>
          </a:prstGeom>
          <a:noFill/>
        </p:spPr>
        <p:txBody>
          <a:bodyPr wrap="square" lIns="45720" rIns="45720" anchor="t">
            <a:spAutoFit/>
          </a:bodyPr>
          <a:lstStyle/>
          <a:p>
            <a:pPr algn="l">
              <a:spcAft>
                <a:spcPts val="400"/>
              </a:spcAft>
            </a:pPr>
            <a:r>
              <a:rPr sz="1600" b="1">
                <a:solidFill>
                  <a:srgbClr val="265BA6"/>
                </a:solidFill>
                <a:latin typeface="Aptos"/>
              </a:rPr>
              <a:t>HARDWARE / DEVICES</a:t>
            </a:r>
          </a:p>
        </p:txBody>
      </p:sp>
      <p:sp>
        <p:nvSpPr>
          <p:cNvPr id="7" name="TextBox 6"/>
          <p:cNvSpPr txBox="1"/>
          <p:nvPr/>
        </p:nvSpPr>
        <p:spPr>
          <a:xfrm>
            <a:off x="804671" y="1737360"/>
            <a:ext cx="3145536" cy="2990088"/>
          </a:xfrm>
          <a:prstGeom prst="rect">
            <a:avLst/>
          </a:prstGeom>
          <a:noFill/>
        </p:spPr>
        <p:txBody>
          <a:bodyPr wrap="square" lIns="45720" rIns="45720" anchor="t">
            <a:spAutoFit/>
          </a:bodyPr>
          <a:lstStyle/>
          <a:p>
            <a:pPr algn="l">
              <a:spcAft>
                <a:spcPts val="400"/>
              </a:spcAft>
            </a:pPr>
            <a:r>
              <a:rPr sz="1400" b="0">
                <a:solidFill>
                  <a:srgbClr val="2A3442"/>
                </a:solidFill>
                <a:latin typeface="Aptos"/>
              </a:rPr>
              <a:t>• 1 × Cisco 2911 router
• 1 × Catalyst 2960 switch
• 9 × PCs (3 per department)
• 1 × Server-PT
• Copper Ethernet links</a:t>
            </a:r>
          </a:p>
        </p:txBody>
      </p:sp>
      <p:sp>
        <p:nvSpPr>
          <p:cNvPr id="8" name="Rounded Rectangle 7"/>
          <p:cNvSpPr/>
          <p:nvPr/>
        </p:nvSpPr>
        <p:spPr>
          <a:xfrm>
            <a:off x="4370832" y="1234440"/>
            <a:ext cx="3474720" cy="361188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344168"/>
            <a:ext cx="3145536" cy="329184"/>
          </a:xfrm>
          <a:prstGeom prst="rect">
            <a:avLst/>
          </a:prstGeom>
          <a:noFill/>
        </p:spPr>
        <p:txBody>
          <a:bodyPr wrap="square" lIns="45720" rIns="45720" anchor="t">
            <a:spAutoFit/>
          </a:bodyPr>
          <a:lstStyle/>
          <a:p>
            <a:pPr algn="l">
              <a:spcAft>
                <a:spcPts val="400"/>
              </a:spcAft>
            </a:pPr>
            <a:r>
              <a:rPr sz="1600" b="1">
                <a:solidFill>
                  <a:srgbClr val="2AAEBE"/>
                </a:solidFill>
                <a:latin typeface="Aptos"/>
              </a:rPr>
              <a:t>ADDRESSING</a:t>
            </a:r>
          </a:p>
        </p:txBody>
      </p:sp>
      <p:sp>
        <p:nvSpPr>
          <p:cNvPr id="10" name="TextBox 9"/>
          <p:cNvSpPr txBox="1"/>
          <p:nvPr/>
        </p:nvSpPr>
        <p:spPr>
          <a:xfrm>
            <a:off x="4535424" y="1737360"/>
            <a:ext cx="3145536" cy="2990088"/>
          </a:xfrm>
          <a:prstGeom prst="rect">
            <a:avLst/>
          </a:prstGeom>
          <a:noFill/>
        </p:spPr>
        <p:txBody>
          <a:bodyPr wrap="square" lIns="45720" rIns="45720" anchor="t">
            <a:spAutoFit/>
          </a:bodyPr>
          <a:lstStyle/>
          <a:p>
            <a:pPr algn="l">
              <a:spcAft>
                <a:spcPts val="400"/>
              </a:spcAft>
            </a:pPr>
            <a:r>
              <a:rPr sz="1400" b="0">
                <a:solidFill>
                  <a:srgbClr val="2A3442"/>
                </a:solidFill>
                <a:latin typeface="Aptos"/>
              </a:rPr>
              <a:t>• HR: 192.168.10.0/24
• IT: 192.168.20.0/24
• Sales: 192.168.30.0/24
• Gateway: .1 in each subnet
• DHCP clients: .21 onward
• Server: 192.168.10.10 static</a:t>
            </a:r>
          </a:p>
        </p:txBody>
      </p:sp>
      <p:sp>
        <p:nvSpPr>
          <p:cNvPr id="11" name="Rounded Rectangle 10"/>
          <p:cNvSpPr/>
          <p:nvPr/>
        </p:nvSpPr>
        <p:spPr>
          <a:xfrm>
            <a:off x="8101583" y="1234440"/>
            <a:ext cx="3474720" cy="361188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66175" y="1344168"/>
            <a:ext cx="3145536" cy="329184"/>
          </a:xfrm>
          <a:prstGeom prst="rect">
            <a:avLst/>
          </a:prstGeom>
          <a:noFill/>
        </p:spPr>
        <p:txBody>
          <a:bodyPr wrap="square" lIns="45720" rIns="45720" anchor="t">
            <a:spAutoFit/>
          </a:bodyPr>
          <a:lstStyle/>
          <a:p>
            <a:pPr algn="l">
              <a:spcAft>
                <a:spcPts val="400"/>
              </a:spcAft>
            </a:pPr>
            <a:r>
              <a:rPr sz="1600" b="1">
                <a:solidFill>
                  <a:srgbClr val="268C64"/>
                </a:solidFill>
                <a:latin typeface="Aptos"/>
              </a:rPr>
              <a:t>CONFIGURATION</a:t>
            </a:r>
          </a:p>
        </p:txBody>
      </p:sp>
      <p:sp>
        <p:nvSpPr>
          <p:cNvPr id="13" name="TextBox 12"/>
          <p:cNvSpPr txBox="1"/>
          <p:nvPr/>
        </p:nvSpPr>
        <p:spPr>
          <a:xfrm>
            <a:off x="8266175" y="1737360"/>
            <a:ext cx="3145536" cy="2990088"/>
          </a:xfrm>
          <a:prstGeom prst="rect">
            <a:avLst/>
          </a:prstGeom>
          <a:noFill/>
        </p:spPr>
        <p:txBody>
          <a:bodyPr wrap="square" lIns="45720" rIns="45720" anchor="t">
            <a:spAutoFit/>
          </a:bodyPr>
          <a:lstStyle/>
          <a:p>
            <a:pPr algn="l">
              <a:spcAft>
                <a:spcPts val="400"/>
              </a:spcAft>
            </a:pPr>
            <a:r>
              <a:rPr sz="1400" b="0">
                <a:solidFill>
                  <a:srgbClr val="2A3442"/>
                </a:solidFill>
                <a:latin typeface="Aptos"/>
              </a:rPr>
              <a:t>• VLANs 10, 20, 30
• 802.1Q trunk on SW1 Gi0/1
• Router subinterfaces Gi0/0.10/.20/.30
• DHCP pools and exclusions
• DNS record: company.local
• HTTP service enabled</a:t>
            </a:r>
          </a:p>
        </p:txBody>
      </p:sp>
      <p:sp>
        <p:nvSpPr>
          <p:cNvPr id="14" name="TextBox 13"/>
          <p:cNvSpPr txBox="1"/>
          <p:nvPr/>
        </p:nvSpPr>
        <p:spPr>
          <a:xfrm>
            <a:off x="777240" y="5257800"/>
            <a:ext cx="10607040" cy="548640"/>
          </a:xfrm>
          <a:prstGeom prst="rect">
            <a:avLst/>
          </a:prstGeom>
          <a:noFill/>
        </p:spPr>
        <p:txBody>
          <a:bodyPr wrap="square" lIns="45720" rIns="45720" anchor="t">
            <a:spAutoFit/>
          </a:bodyPr>
          <a:lstStyle/>
          <a:p>
            <a:pPr algn="l">
              <a:spcAft>
                <a:spcPts val="400"/>
              </a:spcAft>
            </a:pPr>
            <a:r>
              <a:rPr sz="1200" b="0">
                <a:solidFill>
                  <a:srgbClr val="647080"/>
                </a:solidFill>
                <a:latin typeface="Aptos"/>
              </a:rPr>
              <a:t>Tool: Cisco Packet Tracer. Device support and configuration are verified in the saved simulation.</a:t>
            </a:r>
          </a:p>
        </p:txBody>
      </p:sp>
      <p:sp>
        <p:nvSpPr>
          <p:cNvPr id="15" name="TextBox 14"/>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16" name="TextBox 15"/>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Scenarios &amp; Evaluation Metrics</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06 • TESTING</a:t>
            </a:r>
          </a:p>
        </p:txBody>
      </p:sp>
      <p:graphicFrame>
        <p:nvGraphicFramePr>
          <p:cNvPr id="5" name="Table 4"/>
          <p:cNvGraphicFramePr>
            <a:graphicFrameLocks noGrp="1"/>
          </p:cNvGraphicFramePr>
          <p:nvPr/>
        </p:nvGraphicFramePr>
        <p:xfrm>
          <a:off x="502920" y="1234440"/>
          <a:ext cx="11201400" cy="45262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4800600">
                  <a:extLst>
                    <a:ext uri="{9D8B030D-6E8A-4147-A177-3AD203B41FA5}">
                      <a16:colId xmlns:a16="http://schemas.microsoft.com/office/drawing/2014/main" val="20003"/>
                    </a:ext>
                  </a:extLst>
                </a:gridCol>
              </a:tblGrid>
              <a:tr h="502920">
                <a:tc>
                  <a:txBody>
                    <a:bodyPr/>
                    <a:lstStyle/>
                    <a:p>
                      <a:pPr>
                        <a:defRPr sz="1200" b="1">
                          <a:solidFill>
                            <a:srgbClr val="FFFFFF"/>
                          </a:solidFill>
                        </a:defRPr>
                      </a:pPr>
                      <a:r>
                        <a:t>Scenario</a:t>
                      </a:r>
                    </a:p>
                  </a:txBody>
                  <a:tcPr>
                    <a:solidFill>
                      <a:srgbClr val="14264A"/>
                    </a:solidFill>
                  </a:tcPr>
                </a:tc>
                <a:tc>
                  <a:txBody>
                    <a:bodyPr/>
                    <a:lstStyle/>
                    <a:p>
                      <a:pPr>
                        <a:defRPr sz="1200" b="1">
                          <a:solidFill>
                            <a:srgbClr val="FFFFFF"/>
                          </a:solidFill>
                        </a:defRPr>
                      </a:pPr>
                      <a:r>
                        <a:t>Test / Command</a:t>
                      </a:r>
                    </a:p>
                  </a:txBody>
                  <a:tcPr>
                    <a:solidFill>
                      <a:srgbClr val="14264A"/>
                    </a:solidFill>
                  </a:tcPr>
                </a:tc>
                <a:tc>
                  <a:txBody>
                    <a:bodyPr/>
                    <a:lstStyle/>
                    <a:p>
                      <a:pPr>
                        <a:defRPr sz="1200" b="1">
                          <a:solidFill>
                            <a:srgbClr val="FFFFFF"/>
                          </a:solidFill>
                        </a:defRPr>
                      </a:pPr>
                      <a:r>
                        <a:t>Observed status</a:t>
                      </a:r>
                    </a:p>
                  </a:txBody>
                  <a:tcPr>
                    <a:solidFill>
                      <a:srgbClr val="14264A"/>
                    </a:solidFill>
                  </a:tcPr>
                </a:tc>
                <a:tc>
                  <a:txBody>
                    <a:bodyPr/>
                    <a:lstStyle/>
                    <a:p>
                      <a:pPr>
                        <a:defRPr sz="1200" b="1">
                          <a:solidFill>
                            <a:srgbClr val="FFFFFF"/>
                          </a:solidFill>
                        </a:defRPr>
                      </a:pPr>
                      <a:r>
                        <a:t>Evidence / metric</a:t>
                      </a:r>
                    </a:p>
                  </a:txBody>
                  <a:tcPr>
                    <a:solidFill>
                      <a:srgbClr val="14264A"/>
                    </a:solidFill>
                  </a:tcPr>
                </a:tc>
                <a:extLst>
                  <a:ext uri="{0D108BD9-81ED-4DB2-BD59-A6C34878D82A}">
                    <a16:rowId xmlns:a16="http://schemas.microsoft.com/office/drawing/2014/main" val="10000"/>
                  </a:ext>
                </a:extLst>
              </a:tr>
              <a:tr h="502920">
                <a:tc>
                  <a:txBody>
                    <a:bodyPr/>
                    <a:lstStyle/>
                    <a:p>
                      <a:pPr>
                        <a:defRPr sz="1050">
                          <a:solidFill>
                            <a:srgbClr val="2A3442"/>
                          </a:solidFill>
                        </a:defRPr>
                      </a:pPr>
                      <a:r>
                        <a:t>Gateway reachability</a:t>
                      </a:r>
                    </a:p>
                  </a:txBody>
                  <a:tcPr>
                    <a:solidFill>
                      <a:srgbClr val="EEF5FC"/>
                    </a:solidFill>
                  </a:tcPr>
                </a:tc>
                <a:tc>
                  <a:txBody>
                    <a:bodyPr/>
                    <a:lstStyle/>
                    <a:p>
                      <a:pPr>
                        <a:defRPr sz="1050">
                          <a:solidFill>
                            <a:srgbClr val="2A3442"/>
                          </a:solidFill>
                        </a:defRPr>
                      </a:pPr>
                      <a:r>
                        <a:t>HR-PC1 → 192.168.10.1</a:t>
                      </a:r>
                    </a:p>
                  </a:txBody>
                  <a:tcPr>
                    <a:solidFill>
                      <a:srgbClr val="EEF5FC"/>
                    </a:solidFill>
                  </a:tcPr>
                </a:tc>
                <a:tc>
                  <a:txBody>
                    <a:bodyPr/>
                    <a:lstStyle/>
                    <a:p>
                      <a:pPr>
                        <a:defRPr sz="1050" b="1">
                          <a:solidFill>
                            <a:srgbClr val="268C64"/>
                          </a:solidFill>
                        </a:defRPr>
                      </a:pPr>
                      <a:r>
                        <a:t>Pass</a:t>
                      </a:r>
                    </a:p>
                  </a:txBody>
                  <a:tcPr>
                    <a:solidFill>
                      <a:srgbClr val="EEF5FC"/>
                    </a:solidFill>
                  </a:tcPr>
                </a:tc>
                <a:tc>
                  <a:txBody>
                    <a:bodyPr/>
                    <a:lstStyle/>
                    <a:p>
                      <a:pPr>
                        <a:defRPr sz="1050">
                          <a:solidFill>
                            <a:srgbClr val="2A3442"/>
                          </a:solidFill>
                        </a:defRPr>
                      </a:pPr>
                      <a:r>
                        <a:t>4/4 replies in captured test</a:t>
                      </a:r>
                    </a:p>
                  </a:txBody>
                  <a:tcPr>
                    <a:solidFill>
                      <a:srgbClr val="EEF5FC"/>
                    </a:solidFill>
                  </a:tcPr>
                </a:tc>
                <a:extLst>
                  <a:ext uri="{0D108BD9-81ED-4DB2-BD59-A6C34878D82A}">
                    <a16:rowId xmlns:a16="http://schemas.microsoft.com/office/drawing/2014/main" val="10001"/>
                  </a:ext>
                </a:extLst>
              </a:tr>
              <a:tr h="502920">
                <a:tc>
                  <a:txBody>
                    <a:bodyPr/>
                    <a:lstStyle/>
                    <a:p>
                      <a:pPr>
                        <a:defRPr sz="1050">
                          <a:solidFill>
                            <a:srgbClr val="2A3442"/>
                          </a:solidFill>
                        </a:defRPr>
                      </a:pPr>
                      <a:r>
                        <a:t>Inter-VLAN routing</a:t>
                      </a:r>
                    </a:p>
                  </a:txBody>
                  <a:tcPr>
                    <a:solidFill>
                      <a:srgbClr val="FFFFFF"/>
                    </a:solidFill>
                  </a:tcPr>
                </a:tc>
                <a:tc>
                  <a:txBody>
                    <a:bodyPr/>
                    <a:lstStyle/>
                    <a:p>
                      <a:pPr>
                        <a:defRPr sz="1050">
                          <a:solidFill>
                            <a:srgbClr val="2A3442"/>
                          </a:solidFill>
                        </a:defRPr>
                      </a:pPr>
                      <a:r>
                        <a:t>HR-PC1 → 192.168.20.21</a:t>
                      </a:r>
                    </a:p>
                  </a:txBody>
                  <a:tcPr>
                    <a:solidFill>
                      <a:srgbClr val="FFFFFF"/>
                    </a:solidFill>
                  </a:tcPr>
                </a:tc>
                <a:tc>
                  <a:txBody>
                    <a:bodyPr/>
                    <a:lstStyle/>
                    <a:p>
                      <a:pPr>
                        <a:defRPr sz="1050" b="1">
                          <a:solidFill>
                            <a:srgbClr val="268C64"/>
                          </a:solidFill>
                        </a:defRPr>
                      </a:pPr>
                      <a:r>
                        <a:t>Pass</a:t>
                      </a:r>
                    </a:p>
                  </a:txBody>
                  <a:tcPr>
                    <a:solidFill>
                      <a:srgbClr val="FFFFFF"/>
                    </a:solidFill>
                  </a:tcPr>
                </a:tc>
                <a:tc>
                  <a:txBody>
                    <a:bodyPr/>
                    <a:lstStyle/>
                    <a:p>
                      <a:pPr>
                        <a:defRPr sz="1050">
                          <a:solidFill>
                            <a:srgbClr val="2A3442"/>
                          </a:solidFill>
                        </a:defRPr>
                      </a:pPr>
                      <a:r>
                        <a:t>4/4 replies in captured test</a:t>
                      </a:r>
                    </a:p>
                  </a:txBody>
                  <a:tcPr>
                    <a:solidFill>
                      <a:srgbClr val="FFFFFF"/>
                    </a:solidFill>
                  </a:tcPr>
                </a:tc>
                <a:extLst>
                  <a:ext uri="{0D108BD9-81ED-4DB2-BD59-A6C34878D82A}">
                    <a16:rowId xmlns:a16="http://schemas.microsoft.com/office/drawing/2014/main" val="10002"/>
                  </a:ext>
                </a:extLst>
              </a:tr>
              <a:tr h="502920">
                <a:tc>
                  <a:txBody>
                    <a:bodyPr/>
                    <a:lstStyle/>
                    <a:p>
                      <a:pPr>
                        <a:defRPr sz="1050">
                          <a:solidFill>
                            <a:srgbClr val="2A3442"/>
                          </a:solidFill>
                        </a:defRPr>
                      </a:pPr>
                      <a:r>
                        <a:t>Server reachability</a:t>
                      </a:r>
                    </a:p>
                  </a:txBody>
                  <a:tcPr>
                    <a:solidFill>
                      <a:srgbClr val="EEF5FC"/>
                    </a:solidFill>
                  </a:tcPr>
                </a:tc>
                <a:tc>
                  <a:txBody>
                    <a:bodyPr/>
                    <a:lstStyle/>
                    <a:p>
                      <a:pPr>
                        <a:defRPr sz="1050">
                          <a:solidFill>
                            <a:srgbClr val="2A3442"/>
                          </a:solidFill>
                        </a:defRPr>
                      </a:pPr>
                      <a:r>
                        <a:t>HR-PC1 → 192.168.10.10</a:t>
                      </a:r>
                    </a:p>
                  </a:txBody>
                  <a:tcPr>
                    <a:solidFill>
                      <a:srgbClr val="EEF5FC"/>
                    </a:solidFill>
                  </a:tcPr>
                </a:tc>
                <a:tc>
                  <a:txBody>
                    <a:bodyPr/>
                    <a:lstStyle/>
                    <a:p>
                      <a:pPr>
                        <a:defRPr sz="1050" b="1">
                          <a:solidFill>
                            <a:srgbClr val="268C64"/>
                          </a:solidFill>
                        </a:defRPr>
                      </a:pPr>
                      <a:r>
                        <a:t>Pass</a:t>
                      </a:r>
                    </a:p>
                  </a:txBody>
                  <a:tcPr>
                    <a:solidFill>
                      <a:srgbClr val="EEF5FC"/>
                    </a:solidFill>
                  </a:tcPr>
                </a:tc>
                <a:tc>
                  <a:txBody>
                    <a:bodyPr/>
                    <a:lstStyle/>
                    <a:p>
                      <a:pPr>
                        <a:defRPr sz="1050">
                          <a:solidFill>
                            <a:srgbClr val="2A3442"/>
                          </a:solidFill>
                        </a:defRPr>
                      </a:pPr>
                      <a:r>
                        <a:t>4/4 replies in captured test</a:t>
                      </a:r>
                    </a:p>
                  </a:txBody>
                  <a:tcPr>
                    <a:solidFill>
                      <a:srgbClr val="EEF5FC"/>
                    </a:solidFill>
                  </a:tcPr>
                </a:tc>
                <a:extLst>
                  <a:ext uri="{0D108BD9-81ED-4DB2-BD59-A6C34878D82A}">
                    <a16:rowId xmlns:a16="http://schemas.microsoft.com/office/drawing/2014/main" val="10003"/>
                  </a:ext>
                </a:extLst>
              </a:tr>
              <a:tr h="502920">
                <a:tc>
                  <a:txBody>
                    <a:bodyPr/>
                    <a:lstStyle/>
                    <a:p>
                      <a:pPr>
                        <a:defRPr sz="1050">
                          <a:solidFill>
                            <a:srgbClr val="2A3442"/>
                          </a:solidFill>
                        </a:defRPr>
                      </a:pPr>
                      <a:r>
                        <a:t>DNS resolution</a:t>
                      </a:r>
                    </a:p>
                  </a:txBody>
                  <a:tcPr>
                    <a:solidFill>
                      <a:srgbClr val="FFFFFF"/>
                    </a:solidFill>
                  </a:tcPr>
                </a:tc>
                <a:tc>
                  <a:txBody>
                    <a:bodyPr/>
                    <a:lstStyle/>
                    <a:p>
                      <a:pPr>
                        <a:defRPr sz="1050">
                          <a:solidFill>
                            <a:srgbClr val="2A3442"/>
                          </a:solidFill>
                        </a:defRPr>
                      </a:pPr>
                      <a:r>
                        <a:t>ping company.local</a:t>
                      </a:r>
                    </a:p>
                  </a:txBody>
                  <a:tcPr>
                    <a:solidFill>
                      <a:srgbClr val="FFFFFF"/>
                    </a:solidFill>
                  </a:tcPr>
                </a:tc>
                <a:tc>
                  <a:txBody>
                    <a:bodyPr/>
                    <a:lstStyle/>
                    <a:p>
                      <a:pPr>
                        <a:defRPr sz="1050" b="1">
                          <a:solidFill>
                            <a:srgbClr val="268C64"/>
                          </a:solidFill>
                        </a:defRPr>
                      </a:pPr>
                      <a:r>
                        <a:t>Pass</a:t>
                      </a:r>
                    </a:p>
                  </a:txBody>
                  <a:tcPr>
                    <a:solidFill>
                      <a:srgbClr val="FFFFFF"/>
                    </a:solidFill>
                  </a:tcPr>
                </a:tc>
                <a:tc>
                  <a:txBody>
                    <a:bodyPr/>
                    <a:lstStyle/>
                    <a:p>
                      <a:pPr>
                        <a:defRPr sz="1050">
                          <a:solidFill>
                            <a:srgbClr val="2A3442"/>
                          </a:solidFill>
                        </a:defRPr>
                      </a:pPr>
                      <a:r>
                        <a:t>Resolved to 192.168.10.10</a:t>
                      </a:r>
                    </a:p>
                  </a:txBody>
                  <a:tcPr>
                    <a:solidFill>
                      <a:srgbClr val="FFFFFF"/>
                    </a:solidFill>
                  </a:tcPr>
                </a:tc>
                <a:extLst>
                  <a:ext uri="{0D108BD9-81ED-4DB2-BD59-A6C34878D82A}">
                    <a16:rowId xmlns:a16="http://schemas.microsoft.com/office/drawing/2014/main" val="10004"/>
                  </a:ext>
                </a:extLst>
              </a:tr>
              <a:tr h="502920">
                <a:tc>
                  <a:txBody>
                    <a:bodyPr/>
                    <a:lstStyle/>
                    <a:p>
                      <a:pPr>
                        <a:defRPr sz="1050">
                          <a:solidFill>
                            <a:srgbClr val="2A3442"/>
                          </a:solidFill>
                        </a:defRPr>
                      </a:pPr>
                      <a:r>
                        <a:t>Sales → HR restriction</a:t>
                      </a:r>
                    </a:p>
                  </a:txBody>
                  <a:tcPr>
                    <a:solidFill>
                      <a:srgbClr val="EEF5FC"/>
                    </a:solidFill>
                  </a:tcPr>
                </a:tc>
                <a:tc>
                  <a:txBody>
                    <a:bodyPr/>
                    <a:lstStyle/>
                    <a:p>
                      <a:pPr>
                        <a:defRPr sz="1050">
                          <a:solidFill>
                            <a:srgbClr val="2A3442"/>
                          </a:solidFill>
                        </a:defRPr>
                      </a:pPr>
                      <a:r>
                        <a:t>Sales-PC1 → 192.168.10.21</a:t>
                      </a:r>
                    </a:p>
                  </a:txBody>
                  <a:tcPr>
                    <a:solidFill>
                      <a:srgbClr val="EEF5FC"/>
                    </a:solidFill>
                  </a:tcPr>
                </a:tc>
                <a:tc>
                  <a:txBody>
                    <a:bodyPr/>
                    <a:lstStyle/>
                    <a:p>
                      <a:pPr>
                        <a:defRPr sz="1050" b="1">
                          <a:solidFill>
                            <a:srgbClr val="268C64"/>
                          </a:solidFill>
                        </a:defRPr>
                      </a:pPr>
                      <a:r>
                        <a:t>Blocked</a:t>
                      </a:r>
                    </a:p>
                  </a:txBody>
                  <a:tcPr>
                    <a:solidFill>
                      <a:srgbClr val="EEF5FC"/>
                    </a:solidFill>
                  </a:tcPr>
                </a:tc>
                <a:tc>
                  <a:txBody>
                    <a:bodyPr/>
                    <a:lstStyle/>
                    <a:p>
                      <a:pPr>
                        <a:defRPr sz="1050">
                          <a:solidFill>
                            <a:srgbClr val="2A3442"/>
                          </a:solidFill>
                        </a:defRPr>
                      </a:pPr>
                      <a:r>
                        <a:t>ACL deny counter increased</a:t>
                      </a:r>
                    </a:p>
                  </a:txBody>
                  <a:tcPr>
                    <a:solidFill>
                      <a:srgbClr val="EEF5FC"/>
                    </a:solidFill>
                  </a:tcPr>
                </a:tc>
                <a:extLst>
                  <a:ext uri="{0D108BD9-81ED-4DB2-BD59-A6C34878D82A}">
                    <a16:rowId xmlns:a16="http://schemas.microsoft.com/office/drawing/2014/main" val="10005"/>
                  </a:ext>
                </a:extLst>
              </a:tr>
              <a:tr h="502920">
                <a:tc>
                  <a:txBody>
                    <a:bodyPr/>
                    <a:lstStyle/>
                    <a:p>
                      <a:pPr>
                        <a:defRPr sz="1050">
                          <a:solidFill>
                            <a:srgbClr val="2A3442"/>
                          </a:solidFill>
                        </a:defRPr>
                      </a:pPr>
                      <a:r>
                        <a:t>Sales → Server</a:t>
                      </a:r>
                    </a:p>
                  </a:txBody>
                  <a:tcPr>
                    <a:solidFill>
                      <a:srgbClr val="FFFFFF"/>
                    </a:solidFill>
                  </a:tcPr>
                </a:tc>
                <a:tc>
                  <a:txBody>
                    <a:bodyPr/>
                    <a:lstStyle/>
                    <a:p>
                      <a:pPr>
                        <a:defRPr sz="1050">
                          <a:solidFill>
                            <a:srgbClr val="2A3442"/>
                          </a:solidFill>
                        </a:defRPr>
                      </a:pPr>
                      <a:r>
                        <a:t>Sales-PC1 → 192.168.10.10</a:t>
                      </a:r>
                    </a:p>
                  </a:txBody>
                  <a:tcPr>
                    <a:solidFill>
                      <a:srgbClr val="FFFFFF"/>
                    </a:solidFill>
                  </a:tcPr>
                </a:tc>
                <a:tc>
                  <a:txBody>
                    <a:bodyPr/>
                    <a:lstStyle/>
                    <a:p>
                      <a:pPr>
                        <a:defRPr sz="1050" b="1">
                          <a:solidFill>
                            <a:srgbClr val="268C64"/>
                          </a:solidFill>
                        </a:defRPr>
                      </a:pPr>
                      <a:r>
                        <a:t>Pass</a:t>
                      </a:r>
                    </a:p>
                  </a:txBody>
                  <a:tcPr>
                    <a:solidFill>
                      <a:srgbClr val="FFFFFF"/>
                    </a:solidFill>
                  </a:tcPr>
                </a:tc>
                <a:tc>
                  <a:txBody>
                    <a:bodyPr/>
                    <a:lstStyle/>
                    <a:p>
                      <a:pPr>
                        <a:defRPr sz="1050">
                          <a:solidFill>
                            <a:srgbClr val="2A3442"/>
                          </a:solidFill>
                        </a:defRPr>
                      </a:pPr>
                      <a:r>
                        <a:t>4/4 replies in captured test</a:t>
                      </a:r>
                    </a:p>
                  </a:txBody>
                  <a:tcPr>
                    <a:solidFill>
                      <a:srgbClr val="FFFFFF"/>
                    </a:solidFill>
                  </a:tcPr>
                </a:tc>
                <a:extLst>
                  <a:ext uri="{0D108BD9-81ED-4DB2-BD59-A6C34878D82A}">
                    <a16:rowId xmlns:a16="http://schemas.microsoft.com/office/drawing/2014/main" val="10006"/>
                  </a:ext>
                </a:extLst>
              </a:tr>
              <a:tr h="502920">
                <a:tc>
                  <a:txBody>
                    <a:bodyPr/>
                    <a:lstStyle/>
                    <a:p>
                      <a:pPr>
                        <a:defRPr sz="1050">
                          <a:solidFill>
                            <a:srgbClr val="2A3442"/>
                          </a:solidFill>
                        </a:defRPr>
                      </a:pPr>
                      <a:r>
                        <a:t>DHCP allocation</a:t>
                      </a:r>
                    </a:p>
                  </a:txBody>
                  <a:tcPr>
                    <a:solidFill>
                      <a:srgbClr val="EEF5FC"/>
                    </a:solidFill>
                  </a:tcPr>
                </a:tc>
                <a:tc>
                  <a:txBody>
                    <a:bodyPr/>
                    <a:lstStyle/>
                    <a:p>
                      <a:pPr>
                        <a:defRPr sz="1050">
                          <a:solidFill>
                            <a:srgbClr val="2A3442"/>
                          </a:solidFill>
                        </a:defRPr>
                      </a:pPr>
                      <a:r>
                        <a:t>R1 show ip dhcp binding</a:t>
                      </a:r>
                    </a:p>
                  </a:txBody>
                  <a:tcPr>
                    <a:solidFill>
                      <a:srgbClr val="EEF5FC"/>
                    </a:solidFill>
                  </a:tcPr>
                </a:tc>
                <a:tc>
                  <a:txBody>
                    <a:bodyPr/>
                    <a:lstStyle/>
                    <a:p>
                      <a:pPr>
                        <a:defRPr sz="1050" b="1">
                          <a:solidFill>
                            <a:srgbClr val="268C64"/>
                          </a:solidFill>
                        </a:defRPr>
                      </a:pPr>
                      <a:r>
                        <a:t>Pass</a:t>
                      </a:r>
                    </a:p>
                  </a:txBody>
                  <a:tcPr>
                    <a:solidFill>
                      <a:srgbClr val="EEF5FC"/>
                    </a:solidFill>
                  </a:tcPr>
                </a:tc>
                <a:tc>
                  <a:txBody>
                    <a:bodyPr/>
                    <a:lstStyle/>
                    <a:p>
                      <a:pPr>
                        <a:defRPr sz="1050">
                          <a:solidFill>
                            <a:srgbClr val="2A3442"/>
                          </a:solidFill>
                        </a:defRPr>
                      </a:pPr>
                      <a:r>
                        <a:t>9 client leases shown</a:t>
                      </a:r>
                    </a:p>
                  </a:txBody>
                  <a:tcPr>
                    <a:solidFill>
                      <a:srgbClr val="EEF5FC"/>
                    </a:solidFill>
                  </a:tcPr>
                </a:tc>
                <a:extLst>
                  <a:ext uri="{0D108BD9-81ED-4DB2-BD59-A6C34878D82A}">
                    <a16:rowId xmlns:a16="http://schemas.microsoft.com/office/drawing/2014/main" val="10007"/>
                  </a:ext>
                </a:extLst>
              </a:tr>
              <a:tr h="502920">
                <a:tc>
                  <a:txBody>
                    <a:bodyPr/>
                    <a:lstStyle/>
                    <a:p>
                      <a:pPr>
                        <a:defRPr sz="1050">
                          <a:solidFill>
                            <a:srgbClr val="2A3442"/>
                          </a:solidFill>
                        </a:defRPr>
                      </a:pPr>
                      <a:r>
                        <a:t>Port security</a:t>
                      </a:r>
                    </a:p>
                  </a:txBody>
                  <a:tcPr>
                    <a:solidFill>
                      <a:srgbClr val="FFFFFF"/>
                    </a:solidFill>
                  </a:tcPr>
                </a:tc>
                <a:tc>
                  <a:txBody>
                    <a:bodyPr/>
                    <a:lstStyle/>
                    <a:p>
                      <a:pPr>
                        <a:defRPr sz="1050">
                          <a:solidFill>
                            <a:srgbClr val="2A3442"/>
                          </a:solidFill>
                        </a:defRPr>
                      </a:pPr>
                      <a:r>
                        <a:t>SW1 show port-security</a:t>
                      </a:r>
                    </a:p>
                  </a:txBody>
                  <a:tcPr>
                    <a:solidFill>
                      <a:srgbClr val="FFFFFF"/>
                    </a:solidFill>
                  </a:tcPr>
                </a:tc>
                <a:tc>
                  <a:txBody>
                    <a:bodyPr/>
                    <a:lstStyle/>
                    <a:p>
                      <a:pPr>
                        <a:defRPr sz="1050" b="1">
                          <a:solidFill>
                            <a:srgbClr val="268C64"/>
                          </a:solidFill>
                        </a:defRPr>
                      </a:pPr>
                      <a:r>
                        <a:t>Configured</a:t>
                      </a:r>
                    </a:p>
                  </a:txBody>
                  <a:tcPr>
                    <a:solidFill>
                      <a:srgbClr val="FFFFFF"/>
                    </a:solidFill>
                  </a:tcPr>
                </a:tc>
                <a:tc>
                  <a:txBody>
                    <a:bodyPr/>
                    <a:lstStyle/>
                    <a:p>
                      <a:pPr>
                        <a:defRPr sz="1050">
                          <a:solidFill>
                            <a:srgbClr val="2A3442"/>
                          </a:solidFill>
                        </a:defRPr>
                      </a:pPr>
                      <a:r>
                        <a:t>Fa0/1–Fa0/9; max 1 MAC</a:t>
                      </a:r>
                    </a:p>
                  </a:txBody>
                  <a:tcPr>
                    <a:solidFill>
                      <a:srgbClr val="FFFFFF"/>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685800" y="5870448"/>
            <a:ext cx="10698480" cy="320040"/>
          </a:xfrm>
          <a:prstGeom prst="rect">
            <a:avLst/>
          </a:prstGeom>
          <a:noFill/>
        </p:spPr>
        <p:txBody>
          <a:bodyPr wrap="square" lIns="45720" rIns="45720" anchor="t">
            <a:spAutoFit/>
          </a:bodyPr>
          <a:lstStyle/>
          <a:p>
            <a:pPr algn="l">
              <a:spcAft>
                <a:spcPts val="400"/>
              </a:spcAft>
            </a:pPr>
            <a:r>
              <a:rPr sz="1000" b="0">
                <a:solidFill>
                  <a:srgbClr val="647080"/>
                </a:solidFill>
                <a:latin typeface="Aptos"/>
              </a:rPr>
              <a:t>Use only the captured tests as results; do not claim tests that have not been run.</a:t>
            </a:r>
          </a:p>
        </p:txBody>
      </p:sp>
      <p:sp>
        <p:nvSpPr>
          <p:cNvPr id="7" name="TextBox 6"/>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8" name="TextBox 7"/>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Results: Baseline vs Proposed</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07 • RESULTS</a:t>
            </a:r>
          </a:p>
        </p:txBody>
      </p:sp>
      <p:sp>
        <p:nvSpPr>
          <p:cNvPr id="5" name="TextBox 4"/>
          <p:cNvSpPr txBox="1"/>
          <p:nvPr/>
        </p:nvSpPr>
        <p:spPr>
          <a:xfrm>
            <a:off x="731520" y="1097280"/>
            <a:ext cx="5212080" cy="411480"/>
          </a:xfrm>
          <a:prstGeom prst="rect">
            <a:avLst/>
          </a:prstGeom>
          <a:noFill/>
        </p:spPr>
        <p:txBody>
          <a:bodyPr wrap="square" lIns="45720" rIns="45720" anchor="t">
            <a:spAutoFit/>
          </a:bodyPr>
          <a:lstStyle/>
          <a:p>
            <a:pPr algn="l">
              <a:spcAft>
                <a:spcPts val="400"/>
              </a:spcAft>
            </a:pPr>
            <a:r>
              <a:rPr sz="1800" b="1">
                <a:solidFill>
                  <a:srgbClr val="BC4646"/>
                </a:solidFill>
                <a:latin typeface="Aptos"/>
              </a:rPr>
              <a:t>Baseline (conceptual flat network)</a:t>
            </a:r>
          </a:p>
        </p:txBody>
      </p:sp>
      <p:sp>
        <p:nvSpPr>
          <p:cNvPr id="6" name="TextBox 5"/>
          <p:cNvSpPr txBox="1"/>
          <p:nvPr/>
        </p:nvSpPr>
        <p:spPr>
          <a:xfrm>
            <a:off x="6309360" y="1097280"/>
            <a:ext cx="5212080" cy="411480"/>
          </a:xfrm>
          <a:prstGeom prst="rect">
            <a:avLst/>
          </a:prstGeom>
          <a:noFill/>
        </p:spPr>
        <p:txBody>
          <a:bodyPr wrap="square" lIns="45720" rIns="45720" anchor="t">
            <a:spAutoFit/>
          </a:bodyPr>
          <a:lstStyle/>
          <a:p>
            <a:pPr algn="l">
              <a:spcAft>
                <a:spcPts val="400"/>
              </a:spcAft>
            </a:pPr>
            <a:r>
              <a:rPr sz="1800" b="1">
                <a:solidFill>
                  <a:srgbClr val="268C64"/>
                </a:solidFill>
                <a:latin typeface="Aptos"/>
              </a:rPr>
              <a:t>Proposed segmented network</a:t>
            </a:r>
          </a:p>
        </p:txBody>
      </p:sp>
      <p:sp>
        <p:nvSpPr>
          <p:cNvPr id="7" name="Rounded Rectangle 6"/>
          <p:cNvSpPr/>
          <p:nvPr/>
        </p:nvSpPr>
        <p:spPr>
          <a:xfrm>
            <a:off x="685800" y="1691640"/>
            <a:ext cx="5166360" cy="315468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1801368"/>
            <a:ext cx="4837176" cy="329184"/>
          </a:xfrm>
          <a:prstGeom prst="rect">
            <a:avLst/>
          </a:prstGeom>
          <a:noFill/>
        </p:spPr>
        <p:txBody>
          <a:bodyPr wrap="square" lIns="45720" rIns="45720" anchor="t">
            <a:spAutoFit/>
          </a:bodyPr>
          <a:lstStyle/>
          <a:p>
            <a:pPr algn="l">
              <a:spcAft>
                <a:spcPts val="400"/>
              </a:spcAft>
            </a:pPr>
            <a:r>
              <a:rPr sz="1600" b="1">
                <a:solidFill>
                  <a:srgbClr val="BC4646"/>
                </a:solidFill>
                <a:latin typeface="Aptos"/>
              </a:rPr>
              <a:t>BASELINE CHARACTERISTICS</a:t>
            </a:r>
          </a:p>
        </p:txBody>
      </p:sp>
      <p:sp>
        <p:nvSpPr>
          <p:cNvPr id="9" name="TextBox 8"/>
          <p:cNvSpPr txBox="1"/>
          <p:nvPr/>
        </p:nvSpPr>
        <p:spPr>
          <a:xfrm>
            <a:off x="850392" y="2194560"/>
            <a:ext cx="4837176" cy="2532888"/>
          </a:xfrm>
          <a:prstGeom prst="rect">
            <a:avLst/>
          </a:prstGeom>
          <a:noFill/>
        </p:spPr>
        <p:txBody>
          <a:bodyPr wrap="square" lIns="45720" rIns="45720" anchor="t">
            <a:spAutoFit/>
          </a:bodyPr>
          <a:lstStyle/>
          <a:p>
            <a:pPr algn="l">
              <a:spcAft>
                <a:spcPts val="400"/>
              </a:spcAft>
            </a:pPr>
            <a:r>
              <a:rPr sz="1500" b="0">
                <a:solidFill>
                  <a:srgbClr val="2A3442"/>
                </a:solidFill>
                <a:latin typeface="Aptos"/>
              </a:rPr>
              <a:t>• One broad broadcast domain
• Department traffic not logically separated
• Manual addressing may be needed
• No demonstrated department ACL boundary</a:t>
            </a:r>
          </a:p>
        </p:txBody>
      </p:sp>
      <p:sp>
        <p:nvSpPr>
          <p:cNvPr id="10" name="Rounded Rectangle 9"/>
          <p:cNvSpPr/>
          <p:nvPr/>
        </p:nvSpPr>
        <p:spPr>
          <a:xfrm>
            <a:off x="6309360" y="1691640"/>
            <a:ext cx="5166360" cy="315468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3952" y="1801368"/>
            <a:ext cx="4837176" cy="329184"/>
          </a:xfrm>
          <a:prstGeom prst="rect">
            <a:avLst/>
          </a:prstGeom>
          <a:noFill/>
        </p:spPr>
        <p:txBody>
          <a:bodyPr wrap="square" lIns="45720" rIns="45720" anchor="t">
            <a:spAutoFit/>
          </a:bodyPr>
          <a:lstStyle/>
          <a:p>
            <a:pPr algn="l">
              <a:spcAft>
                <a:spcPts val="400"/>
              </a:spcAft>
            </a:pPr>
            <a:r>
              <a:rPr sz="1600" b="1">
                <a:solidFill>
                  <a:srgbClr val="268C64"/>
                </a:solidFill>
                <a:latin typeface="Aptos"/>
              </a:rPr>
              <a:t>IMPLEMENTED CHARACTERISTICS</a:t>
            </a:r>
          </a:p>
        </p:txBody>
      </p:sp>
      <p:sp>
        <p:nvSpPr>
          <p:cNvPr id="12" name="TextBox 11"/>
          <p:cNvSpPr txBox="1"/>
          <p:nvPr/>
        </p:nvSpPr>
        <p:spPr>
          <a:xfrm>
            <a:off x="6473952" y="2194560"/>
            <a:ext cx="4837176" cy="2532888"/>
          </a:xfrm>
          <a:prstGeom prst="rect">
            <a:avLst/>
          </a:prstGeom>
          <a:noFill/>
        </p:spPr>
        <p:txBody>
          <a:bodyPr wrap="square" lIns="45720" rIns="45720" anchor="t">
            <a:spAutoFit/>
          </a:bodyPr>
          <a:lstStyle/>
          <a:p>
            <a:pPr algn="l">
              <a:spcAft>
                <a:spcPts val="400"/>
              </a:spcAft>
            </a:pPr>
            <a:r>
              <a:rPr sz="1500" b="0">
                <a:solidFill>
                  <a:srgbClr val="2A3442"/>
                </a:solidFill>
                <a:latin typeface="Aptos"/>
              </a:rPr>
              <a:t>• Three department VLANs
• DHCP bindings for 9 PCs
• Routing through three subinterfaces
• ACL blocks Sales-to-HR subnet traffic
• DNS + HTTP server access verified</a:t>
            </a:r>
          </a:p>
        </p:txBody>
      </p:sp>
      <p:sp>
        <p:nvSpPr>
          <p:cNvPr id="13" name="TextBox 12"/>
          <p:cNvSpPr txBox="1"/>
          <p:nvPr/>
        </p:nvSpPr>
        <p:spPr>
          <a:xfrm>
            <a:off x="822960" y="5257800"/>
            <a:ext cx="10515600" cy="594360"/>
          </a:xfrm>
          <a:prstGeom prst="rect">
            <a:avLst/>
          </a:prstGeom>
          <a:noFill/>
        </p:spPr>
        <p:txBody>
          <a:bodyPr wrap="square" lIns="45720" rIns="45720" anchor="t">
            <a:spAutoFit/>
          </a:bodyPr>
          <a:lstStyle/>
          <a:p>
            <a:pPr algn="l">
              <a:spcAft>
                <a:spcPts val="400"/>
              </a:spcAft>
            </a:pPr>
            <a:r>
              <a:rPr sz="1200" b="0">
                <a:solidFill>
                  <a:srgbClr val="647080"/>
                </a:solidFill>
                <a:latin typeface="Aptos"/>
              </a:rPr>
              <a:t>No numerical baseline measurements were collected; comparison is feature-based, not a measured performance claim.</a:t>
            </a:r>
          </a:p>
        </p:txBody>
      </p:sp>
      <p:sp>
        <p:nvSpPr>
          <p:cNvPr id="14" name="TextBox 13"/>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15" name="TextBox 14"/>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Analysis, Limitations &amp; Security Considerations</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08 • ANALYSIS</a:t>
            </a:r>
          </a:p>
        </p:txBody>
      </p:sp>
      <p:sp>
        <p:nvSpPr>
          <p:cNvPr id="5" name="Rounded Rectangle 4"/>
          <p:cNvSpPr/>
          <p:nvPr/>
        </p:nvSpPr>
        <p:spPr>
          <a:xfrm>
            <a:off x="640080" y="1234440"/>
            <a:ext cx="5303520" cy="182880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1344168"/>
            <a:ext cx="4974336" cy="329184"/>
          </a:xfrm>
          <a:prstGeom prst="rect">
            <a:avLst/>
          </a:prstGeom>
          <a:noFill/>
        </p:spPr>
        <p:txBody>
          <a:bodyPr wrap="square" lIns="45720" rIns="45720" anchor="t">
            <a:spAutoFit/>
          </a:bodyPr>
          <a:lstStyle/>
          <a:p>
            <a:pPr algn="l">
              <a:spcAft>
                <a:spcPts val="400"/>
              </a:spcAft>
            </a:pPr>
            <a:r>
              <a:rPr sz="1600" b="1">
                <a:solidFill>
                  <a:srgbClr val="268C64"/>
                </a:solidFill>
                <a:latin typeface="Aptos"/>
              </a:rPr>
              <a:t>WHAT WORKS</a:t>
            </a:r>
          </a:p>
        </p:txBody>
      </p:sp>
      <p:sp>
        <p:nvSpPr>
          <p:cNvPr id="7" name="TextBox 6"/>
          <p:cNvSpPr txBox="1"/>
          <p:nvPr/>
        </p:nvSpPr>
        <p:spPr>
          <a:xfrm>
            <a:off x="804671" y="1737360"/>
            <a:ext cx="4974336" cy="1207007"/>
          </a:xfrm>
          <a:prstGeom prst="rect">
            <a:avLst/>
          </a:prstGeom>
          <a:noFill/>
        </p:spPr>
        <p:txBody>
          <a:bodyPr wrap="square" lIns="45720" rIns="45720" anchor="t">
            <a:spAutoFit/>
          </a:bodyPr>
          <a:lstStyle/>
          <a:p>
            <a:pPr algn="l">
              <a:spcAft>
                <a:spcPts val="400"/>
              </a:spcAft>
            </a:pPr>
            <a:r>
              <a:rPr sz="1300" b="0">
                <a:solidFill>
                  <a:srgbClr val="2A3442"/>
                </a:solidFill>
                <a:latin typeface="Aptos"/>
              </a:rPr>
              <a:t>• VLANs and trunk are active
• DHCP issued 9 client addresses
• DNS and server reachability verified
• ACL counters show matching traffic</a:t>
            </a:r>
          </a:p>
        </p:txBody>
      </p:sp>
      <p:sp>
        <p:nvSpPr>
          <p:cNvPr id="8" name="Rounded Rectangle 7"/>
          <p:cNvSpPr/>
          <p:nvPr/>
        </p:nvSpPr>
        <p:spPr>
          <a:xfrm>
            <a:off x="6217920" y="1234440"/>
            <a:ext cx="5303520" cy="182880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2512" y="1344168"/>
            <a:ext cx="4974336" cy="329184"/>
          </a:xfrm>
          <a:prstGeom prst="rect">
            <a:avLst/>
          </a:prstGeom>
          <a:noFill/>
        </p:spPr>
        <p:txBody>
          <a:bodyPr wrap="square" lIns="45720" rIns="45720" anchor="t">
            <a:spAutoFit/>
          </a:bodyPr>
          <a:lstStyle/>
          <a:p>
            <a:pPr algn="l">
              <a:spcAft>
                <a:spcPts val="400"/>
              </a:spcAft>
            </a:pPr>
            <a:r>
              <a:rPr sz="1600" b="1">
                <a:solidFill>
                  <a:srgbClr val="BC4646"/>
                </a:solidFill>
                <a:latin typeface="Aptos"/>
              </a:rPr>
              <a:t>LIMITATIONS</a:t>
            </a:r>
          </a:p>
        </p:txBody>
      </p:sp>
      <p:sp>
        <p:nvSpPr>
          <p:cNvPr id="10" name="TextBox 9"/>
          <p:cNvSpPr txBox="1"/>
          <p:nvPr/>
        </p:nvSpPr>
        <p:spPr>
          <a:xfrm>
            <a:off x="6382512" y="1737360"/>
            <a:ext cx="4974336" cy="1207007"/>
          </a:xfrm>
          <a:prstGeom prst="rect">
            <a:avLst/>
          </a:prstGeom>
          <a:noFill/>
        </p:spPr>
        <p:txBody>
          <a:bodyPr wrap="square" lIns="45720" rIns="45720" anchor="t">
            <a:spAutoFit/>
          </a:bodyPr>
          <a:lstStyle/>
          <a:p>
            <a:pPr algn="l">
              <a:spcAft>
                <a:spcPts val="400"/>
              </a:spcAft>
            </a:pPr>
            <a:r>
              <a:rPr sz="1300" b="0">
                <a:solidFill>
                  <a:srgbClr val="2A3442"/>
                </a:solidFill>
                <a:latin typeface="Aptos"/>
              </a:rPr>
              <a:t>• One router and one switch: single points of failure
• No Internet/WAN connection in current scope
• No measured throughput or delay baseline
• DNS/HTTP are internal services; HTTPS must be separately configured</a:t>
            </a:r>
          </a:p>
        </p:txBody>
      </p:sp>
      <p:sp>
        <p:nvSpPr>
          <p:cNvPr id="11" name="Rounded Rectangle 10"/>
          <p:cNvSpPr/>
          <p:nvPr/>
        </p:nvSpPr>
        <p:spPr>
          <a:xfrm>
            <a:off x="640080" y="3429000"/>
            <a:ext cx="5303520" cy="164592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 y="3538728"/>
            <a:ext cx="4974336" cy="329184"/>
          </a:xfrm>
          <a:prstGeom prst="rect">
            <a:avLst/>
          </a:prstGeom>
          <a:noFill/>
        </p:spPr>
        <p:txBody>
          <a:bodyPr wrap="square" lIns="45720" rIns="45720" anchor="t">
            <a:spAutoFit/>
          </a:bodyPr>
          <a:lstStyle/>
          <a:p>
            <a:pPr algn="l">
              <a:spcAft>
                <a:spcPts val="400"/>
              </a:spcAft>
            </a:pPr>
            <a:r>
              <a:rPr sz="1600" b="1">
                <a:solidFill>
                  <a:srgbClr val="265BA6"/>
                </a:solidFill>
                <a:latin typeface="Aptos"/>
              </a:rPr>
              <a:t>SECURITY NOTES</a:t>
            </a:r>
          </a:p>
        </p:txBody>
      </p:sp>
      <p:sp>
        <p:nvSpPr>
          <p:cNvPr id="13" name="TextBox 12"/>
          <p:cNvSpPr txBox="1"/>
          <p:nvPr/>
        </p:nvSpPr>
        <p:spPr>
          <a:xfrm>
            <a:off x="804671" y="3931920"/>
            <a:ext cx="4974336" cy="1024128"/>
          </a:xfrm>
          <a:prstGeom prst="rect">
            <a:avLst/>
          </a:prstGeom>
          <a:noFill/>
        </p:spPr>
        <p:txBody>
          <a:bodyPr wrap="square" lIns="45720" rIns="45720" anchor="t">
            <a:spAutoFit/>
          </a:bodyPr>
          <a:lstStyle/>
          <a:p>
            <a:pPr algn="l">
              <a:spcAft>
                <a:spcPts val="400"/>
              </a:spcAft>
            </a:pPr>
            <a:r>
              <a:rPr sz="1300" b="0">
                <a:solidFill>
                  <a:srgbClr val="2A3442"/>
                </a:solidFill>
                <a:latin typeface="Aptos"/>
              </a:rPr>
              <a:t>• Port security helps limit unknown MACs per access port
• ACL is directional and ordered top-to-bottom
• ICMP success/failure alone does not prove all application policies</a:t>
            </a:r>
          </a:p>
        </p:txBody>
      </p:sp>
      <p:sp>
        <p:nvSpPr>
          <p:cNvPr id="14" name="Rounded Rectangle 13"/>
          <p:cNvSpPr/>
          <p:nvPr/>
        </p:nvSpPr>
        <p:spPr>
          <a:xfrm>
            <a:off x="6217920" y="3429000"/>
            <a:ext cx="5303520" cy="1645920"/>
          </a:xfrm>
          <a:prstGeom prst="roundRect">
            <a:avLst/>
          </a:prstGeom>
          <a:solidFill>
            <a:srgbClr val="EEF5FC"/>
          </a:solidFill>
          <a:ln>
            <a:solidFill>
              <a:srgbClr val="D7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82512" y="3538728"/>
            <a:ext cx="4974336" cy="329184"/>
          </a:xfrm>
          <a:prstGeom prst="rect">
            <a:avLst/>
          </a:prstGeom>
          <a:noFill/>
        </p:spPr>
        <p:txBody>
          <a:bodyPr wrap="square" lIns="45720" rIns="45720" anchor="t">
            <a:spAutoFit/>
          </a:bodyPr>
          <a:lstStyle/>
          <a:p>
            <a:pPr algn="l">
              <a:spcAft>
                <a:spcPts val="400"/>
              </a:spcAft>
            </a:pPr>
            <a:r>
              <a:rPr sz="1600" b="1">
                <a:solidFill>
                  <a:srgbClr val="2AAEBE"/>
                </a:solidFill>
                <a:latin typeface="Aptos"/>
              </a:rPr>
              <a:t>NEXT IMPROVEMENTS</a:t>
            </a:r>
          </a:p>
        </p:txBody>
      </p:sp>
      <p:sp>
        <p:nvSpPr>
          <p:cNvPr id="16" name="TextBox 15"/>
          <p:cNvSpPr txBox="1"/>
          <p:nvPr/>
        </p:nvSpPr>
        <p:spPr>
          <a:xfrm>
            <a:off x="6382512" y="3931920"/>
            <a:ext cx="4974336" cy="1024128"/>
          </a:xfrm>
          <a:prstGeom prst="rect">
            <a:avLst/>
          </a:prstGeom>
          <a:noFill/>
        </p:spPr>
        <p:txBody>
          <a:bodyPr wrap="square" lIns="45720" rIns="45720" anchor="t">
            <a:spAutoFit/>
          </a:bodyPr>
          <a:lstStyle/>
          <a:p>
            <a:pPr algn="l">
              <a:spcAft>
                <a:spcPts val="400"/>
              </a:spcAft>
            </a:pPr>
            <a:r>
              <a:rPr sz="1300" b="0">
                <a:solidFill>
                  <a:srgbClr val="2A3442"/>
                </a:solidFill>
                <a:latin typeface="Aptos"/>
              </a:rPr>
              <a:t>• SSH for encrypted device management
• Centralized Syslog
• DHCP Snooping / DAI if supported
• Redundant links/devices and backups</a:t>
            </a:r>
          </a:p>
        </p:txBody>
      </p:sp>
      <p:sp>
        <p:nvSpPr>
          <p:cNvPr id="17" name="TextBox 16"/>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18" name="TextBox 17"/>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064240" cy="475488"/>
          </a:xfrm>
          <a:prstGeom prst="rect">
            <a:avLst/>
          </a:prstGeom>
          <a:noFill/>
        </p:spPr>
        <p:txBody>
          <a:bodyPr wrap="square" lIns="45720" rIns="45720" anchor="t">
            <a:spAutoFit/>
          </a:bodyPr>
          <a:lstStyle/>
          <a:p>
            <a:pPr algn="l">
              <a:spcAft>
                <a:spcPts val="400"/>
              </a:spcAft>
            </a:pPr>
            <a:r>
              <a:rPr sz="2700" b="1">
                <a:solidFill>
                  <a:srgbClr val="14264A"/>
                </a:solidFill>
                <a:latin typeface="Aptos"/>
              </a:rPr>
              <a:t>Conclusion, Future Work &amp; References</a:t>
            </a:r>
          </a:p>
        </p:txBody>
      </p:sp>
      <p:sp>
        <p:nvSpPr>
          <p:cNvPr id="3" name="Rectangle 2"/>
          <p:cNvSpPr/>
          <p:nvPr/>
        </p:nvSpPr>
        <p:spPr>
          <a:xfrm>
            <a:off x="530352" y="804672"/>
            <a:ext cx="1005840" cy="50292"/>
          </a:xfrm>
          <a:prstGeom prst="rect">
            <a:avLst/>
          </a:prstGeom>
          <a:solidFill>
            <a:srgbClr val="2AA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18320" y="292608"/>
            <a:ext cx="2194560" cy="256032"/>
          </a:xfrm>
          <a:prstGeom prst="rect">
            <a:avLst/>
          </a:prstGeom>
          <a:noFill/>
        </p:spPr>
        <p:txBody>
          <a:bodyPr wrap="square" lIns="45720" rIns="45720" anchor="t">
            <a:spAutoFit/>
          </a:bodyPr>
          <a:lstStyle/>
          <a:p>
            <a:pPr algn="r">
              <a:spcAft>
                <a:spcPts val="400"/>
              </a:spcAft>
            </a:pPr>
            <a:r>
              <a:rPr sz="900" b="1">
                <a:solidFill>
                  <a:srgbClr val="647080"/>
                </a:solidFill>
                <a:latin typeface="Aptos"/>
              </a:rPr>
              <a:t>09 • CLOSING</a:t>
            </a:r>
          </a:p>
        </p:txBody>
      </p:sp>
      <p:sp>
        <p:nvSpPr>
          <p:cNvPr id="5" name="TextBox 4"/>
          <p:cNvSpPr txBox="1"/>
          <p:nvPr/>
        </p:nvSpPr>
        <p:spPr>
          <a:xfrm>
            <a:off x="731520" y="1097280"/>
            <a:ext cx="5120640" cy="365760"/>
          </a:xfrm>
          <a:prstGeom prst="rect">
            <a:avLst/>
          </a:prstGeom>
          <a:noFill/>
        </p:spPr>
        <p:txBody>
          <a:bodyPr wrap="square" lIns="45720" rIns="45720" anchor="t">
            <a:spAutoFit/>
          </a:bodyPr>
          <a:lstStyle/>
          <a:p>
            <a:pPr algn="l">
              <a:spcAft>
                <a:spcPts val="400"/>
              </a:spcAft>
            </a:pPr>
            <a:r>
              <a:rPr sz="2000" b="1">
                <a:solidFill>
                  <a:srgbClr val="265BA6"/>
                </a:solidFill>
                <a:latin typeface="Aptos"/>
              </a:rPr>
              <a:t>Conclusion</a:t>
            </a:r>
          </a:p>
        </p:txBody>
      </p:sp>
      <p:sp>
        <p:nvSpPr>
          <p:cNvPr id="6" name="TextBox 5"/>
          <p:cNvSpPr txBox="1"/>
          <p:nvPr/>
        </p:nvSpPr>
        <p:spPr>
          <a:xfrm>
            <a:off x="731520" y="1600200"/>
            <a:ext cx="5166360" cy="2057400"/>
          </a:xfrm>
          <a:prstGeom prst="rect">
            <a:avLst/>
          </a:prstGeom>
          <a:noFill/>
        </p:spPr>
        <p:txBody>
          <a:bodyPr wrap="square" lIns="109728" tIns="73152" rIns="73152" bIns="36576">
            <a:spAutoFit/>
          </a:bodyPr>
          <a:lstStyle/>
          <a:p>
            <a:pPr>
              <a:spcAft>
                <a:spcPts val="800"/>
              </a:spcAft>
              <a:defRPr sz="1400">
                <a:solidFill>
                  <a:srgbClr val="2A3442"/>
                </a:solidFill>
                <a:latin typeface="Aptos"/>
              </a:defRPr>
            </a:pPr>
            <a:r>
              <a:t>• Built a segmented office LAN with HR, IT and Sales VLANs.</a:t>
            </a:r>
          </a:p>
          <a:p>
            <a:pPr>
              <a:spcAft>
                <a:spcPts val="800"/>
              </a:spcAft>
              <a:defRPr sz="1400">
                <a:solidFill>
                  <a:srgbClr val="2A3442"/>
                </a:solidFill>
                <a:latin typeface="Aptos"/>
              </a:defRPr>
            </a:pPr>
            <a:r>
              <a:t>• Automated client addressing through router-based DHCP.</a:t>
            </a:r>
          </a:p>
          <a:p>
            <a:pPr>
              <a:spcAft>
                <a:spcPts val="800"/>
              </a:spcAft>
              <a:defRPr sz="1400">
                <a:solidFill>
                  <a:srgbClr val="2A3442"/>
                </a:solidFill>
                <a:latin typeface="Aptos"/>
              </a:defRPr>
            </a:pPr>
            <a:r>
              <a:t>• Enabled inter-VLAN routing and internal DNS/HTTP services.</a:t>
            </a:r>
          </a:p>
          <a:p>
            <a:pPr>
              <a:spcAft>
                <a:spcPts val="800"/>
              </a:spcAft>
              <a:defRPr sz="1400">
                <a:solidFill>
                  <a:srgbClr val="2A3442"/>
                </a:solidFill>
                <a:latin typeface="Aptos"/>
              </a:defRPr>
            </a:pPr>
            <a:r>
              <a:t>• Applied ACL and port security controls and verified key scenarios.</a:t>
            </a:r>
          </a:p>
        </p:txBody>
      </p:sp>
      <p:sp>
        <p:nvSpPr>
          <p:cNvPr id="7" name="TextBox 6"/>
          <p:cNvSpPr txBox="1"/>
          <p:nvPr/>
        </p:nvSpPr>
        <p:spPr>
          <a:xfrm>
            <a:off x="6217920" y="1097280"/>
            <a:ext cx="4937760" cy="365760"/>
          </a:xfrm>
          <a:prstGeom prst="rect">
            <a:avLst/>
          </a:prstGeom>
          <a:noFill/>
        </p:spPr>
        <p:txBody>
          <a:bodyPr wrap="square" lIns="45720" rIns="45720" anchor="t">
            <a:spAutoFit/>
          </a:bodyPr>
          <a:lstStyle/>
          <a:p>
            <a:pPr algn="l">
              <a:spcAft>
                <a:spcPts val="400"/>
              </a:spcAft>
            </a:pPr>
            <a:r>
              <a:rPr sz="2000" b="1">
                <a:solidFill>
                  <a:srgbClr val="265BA6"/>
                </a:solidFill>
                <a:latin typeface="Aptos"/>
              </a:rPr>
              <a:t>Future work</a:t>
            </a:r>
          </a:p>
        </p:txBody>
      </p:sp>
      <p:sp>
        <p:nvSpPr>
          <p:cNvPr id="8" name="TextBox 7"/>
          <p:cNvSpPr txBox="1"/>
          <p:nvPr/>
        </p:nvSpPr>
        <p:spPr>
          <a:xfrm>
            <a:off x="6217920" y="1600200"/>
            <a:ext cx="5120640" cy="2057400"/>
          </a:xfrm>
          <a:prstGeom prst="rect">
            <a:avLst/>
          </a:prstGeom>
          <a:noFill/>
        </p:spPr>
        <p:txBody>
          <a:bodyPr wrap="square" lIns="109728" tIns="73152" rIns="73152" bIns="36576">
            <a:spAutoFit/>
          </a:bodyPr>
          <a:lstStyle/>
          <a:p>
            <a:pPr>
              <a:spcAft>
                <a:spcPts val="800"/>
              </a:spcAft>
              <a:defRPr sz="1400">
                <a:solidFill>
                  <a:srgbClr val="2A3442"/>
                </a:solidFill>
                <a:latin typeface="Aptos"/>
              </a:defRPr>
            </a:pPr>
            <a:r>
              <a:t>• SSH administration and stronger management-plane access.</a:t>
            </a:r>
          </a:p>
          <a:p>
            <a:pPr>
              <a:spcAft>
                <a:spcPts val="800"/>
              </a:spcAft>
              <a:defRPr sz="1400">
                <a:solidFill>
                  <a:srgbClr val="2A3442"/>
                </a:solidFill>
                <a:latin typeface="Aptos"/>
              </a:defRPr>
            </a:pPr>
            <a:r>
              <a:t>• Centralized Syslog and monitoring.</a:t>
            </a:r>
          </a:p>
          <a:p>
            <a:pPr>
              <a:spcAft>
                <a:spcPts val="800"/>
              </a:spcAft>
              <a:defRPr sz="1400">
                <a:solidFill>
                  <a:srgbClr val="2A3442"/>
                </a:solidFill>
                <a:latin typeface="Aptos"/>
              </a:defRPr>
            </a:pPr>
            <a:r>
              <a:t>• Additional Layer 2 protections, if device support allows.</a:t>
            </a:r>
          </a:p>
          <a:p>
            <a:pPr>
              <a:spcAft>
                <a:spcPts val="800"/>
              </a:spcAft>
              <a:defRPr sz="1400">
                <a:solidFill>
                  <a:srgbClr val="2A3442"/>
                </a:solidFill>
                <a:latin typeface="Aptos"/>
              </a:defRPr>
            </a:pPr>
            <a:r>
              <a:t>• Redundancy, configuration backups and measured performance tests.</a:t>
            </a:r>
          </a:p>
        </p:txBody>
      </p:sp>
      <p:sp>
        <p:nvSpPr>
          <p:cNvPr id="9" name="TextBox 8"/>
          <p:cNvSpPr txBox="1"/>
          <p:nvPr/>
        </p:nvSpPr>
        <p:spPr>
          <a:xfrm>
            <a:off x="731520" y="4069080"/>
            <a:ext cx="10607040" cy="320040"/>
          </a:xfrm>
          <a:prstGeom prst="rect">
            <a:avLst/>
          </a:prstGeom>
          <a:noFill/>
        </p:spPr>
        <p:txBody>
          <a:bodyPr wrap="square" lIns="45720" rIns="45720" anchor="t">
            <a:spAutoFit/>
          </a:bodyPr>
          <a:lstStyle/>
          <a:p>
            <a:pPr algn="l">
              <a:spcAft>
                <a:spcPts val="400"/>
              </a:spcAft>
            </a:pPr>
            <a:r>
              <a:rPr sz="1800" b="1">
                <a:solidFill>
                  <a:srgbClr val="14264A"/>
                </a:solidFill>
                <a:latin typeface="Aptos"/>
              </a:rPr>
              <a:t>References</a:t>
            </a:r>
          </a:p>
        </p:txBody>
      </p:sp>
      <p:sp>
        <p:nvSpPr>
          <p:cNvPr id="10" name="TextBox 9"/>
          <p:cNvSpPr txBox="1"/>
          <p:nvPr/>
        </p:nvSpPr>
        <p:spPr>
          <a:xfrm>
            <a:off x="731520" y="4480560"/>
            <a:ext cx="10698480" cy="1280160"/>
          </a:xfrm>
          <a:prstGeom prst="rect">
            <a:avLst/>
          </a:prstGeom>
          <a:noFill/>
        </p:spPr>
        <p:txBody>
          <a:bodyPr wrap="square" lIns="109728" tIns="73152" rIns="73152" bIns="36576">
            <a:spAutoFit/>
          </a:bodyPr>
          <a:lstStyle/>
          <a:p>
            <a:pPr>
              <a:spcAft>
                <a:spcPts val="500"/>
              </a:spcAft>
              <a:defRPr sz="1100">
                <a:solidFill>
                  <a:srgbClr val="2A3442"/>
                </a:solidFill>
                <a:latin typeface="Aptos"/>
              </a:defRPr>
            </a:pPr>
            <a:r>
              <a:t>• Cisco Networking Academy — Packet Tracer learning resources (https://www.netacad.com/)</a:t>
            </a:r>
          </a:p>
          <a:p>
            <a:pPr>
              <a:spcAft>
                <a:spcPts val="500"/>
              </a:spcAft>
              <a:defRPr sz="1100">
                <a:solidFill>
                  <a:srgbClr val="2A3442"/>
                </a:solidFill>
                <a:latin typeface="Aptos"/>
              </a:defRPr>
            </a:pPr>
            <a:r>
              <a:t>• Cisco IOS configuration guides — VLANs, DHCP, ACLs, SSH and port security (https://www.cisco.com/)</a:t>
            </a:r>
          </a:p>
          <a:p>
            <a:pPr>
              <a:spcAft>
                <a:spcPts val="500"/>
              </a:spcAft>
              <a:defRPr sz="1100">
                <a:solidFill>
                  <a:srgbClr val="2A3442"/>
                </a:solidFill>
                <a:latin typeface="Aptos"/>
              </a:defRPr>
            </a:pPr>
            <a:r>
              <a:t>• RFC 1918 — Address Allocation for Private Internets (https://www.rfc-editor.org/rfc/rfc1918)</a:t>
            </a:r>
          </a:p>
        </p:txBody>
      </p:sp>
      <p:sp>
        <p:nvSpPr>
          <p:cNvPr id="11" name="TextBox 10"/>
          <p:cNvSpPr txBox="1"/>
          <p:nvPr/>
        </p:nvSpPr>
        <p:spPr>
          <a:xfrm>
            <a:off x="502920" y="6510528"/>
            <a:ext cx="9875520" cy="182880"/>
          </a:xfrm>
          <a:prstGeom prst="rect">
            <a:avLst/>
          </a:prstGeom>
          <a:noFill/>
        </p:spPr>
        <p:txBody>
          <a:bodyPr wrap="square" lIns="45720" rIns="45720" anchor="t">
            <a:spAutoFit/>
          </a:bodyPr>
          <a:lstStyle/>
          <a:p>
            <a:pPr algn="l">
              <a:spcAft>
                <a:spcPts val="400"/>
              </a:spcAft>
            </a:pPr>
            <a:r>
              <a:rPr sz="800" b="1">
                <a:solidFill>
                  <a:srgbClr val="647080"/>
                </a:solidFill>
                <a:latin typeface="Aptos"/>
              </a:rPr>
              <a:t>SMALL OFFICE NETWORK  |  CISCO PACKET TRACER</a:t>
            </a:r>
          </a:p>
        </p:txBody>
      </p:sp>
      <p:sp>
        <p:nvSpPr>
          <p:cNvPr id="12" name="TextBox 11"/>
          <p:cNvSpPr txBox="1"/>
          <p:nvPr/>
        </p:nvSpPr>
        <p:spPr>
          <a:xfrm>
            <a:off x="11064240" y="6492240"/>
            <a:ext cx="548640" cy="201168"/>
          </a:xfrm>
          <a:prstGeom prst="rect">
            <a:avLst/>
          </a:prstGeom>
          <a:noFill/>
        </p:spPr>
        <p:txBody>
          <a:bodyPr wrap="square" lIns="45720" rIns="45720" anchor="t">
            <a:spAutoFit/>
          </a:bodyPr>
          <a:lstStyle/>
          <a:p>
            <a:pPr algn="r">
              <a:spcAft>
                <a:spcPts val="400"/>
              </a:spcAft>
            </a:pPr>
            <a:r>
              <a:rPr sz="900" b="1">
                <a:solidFill>
                  <a:srgbClr val="647080"/>
                </a:solidFill>
                <a:latin typeface="Apto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1555</Words>
  <Application>Microsoft Office PowerPoint</Application>
  <PresentationFormat>Widescreen</PresentationFormat>
  <Paragraphs>186</Paragraphs>
  <Slides>10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Jash</dc:creator>
  <cp:keywords/>
  <dc:description>generated using python-pptx</dc:description>
  <cp:lastModifiedBy>Ravindra Swami</cp:lastModifiedBy>
  <cp:revision>3</cp:revision>
  <dcterms:created xsi:type="dcterms:W3CDTF">2013-01-27T09:14:16Z</dcterms:created>
  <dcterms:modified xsi:type="dcterms:W3CDTF">2026-10-27T10:22:08Z</dcterms:modified>
  <cp:category/>
</cp:coreProperties>
</file>